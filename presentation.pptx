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1"/>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Yeseva One" charset="1" panose="00000500000000000000"/>
      <p:regular r:id="rId16"/>
    </p:embeddedFont>
    <p:embeddedFont>
      <p:font typeface="Cabin" charset="1" panose="00000500000000000000"/>
      <p:regular r:id="rId17"/>
    </p:embeddedFont>
    <p:embeddedFont>
      <p:font typeface="Noto Serif Bold" charset="1" panose="02020800060500020200"/>
      <p:regular r:id="rId18"/>
    </p:embeddedFont>
    <p:embeddedFont>
      <p:font typeface="Noto Serif" charset="1" panose="02020600060500020200"/>
      <p:regular r:id="rId19"/>
    </p:embeddedFont>
    <p:embeddedFont>
      <p:font typeface="Cabin Bold" charset="1" panose="00000800000000000000"/>
      <p:regular r:id="rId20"/>
    </p:embeddedFont>
    <p:embeddedFont>
      <p:font typeface="Canva Sans Bold" charset="1" panose="020B0803030501040103"/>
      <p:regular r:id="rId24"/>
    </p:embeddedFont>
    <p:embeddedFont>
      <p:font typeface="Canva Sans" charset="1" panose="020B0503030501040103"/>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notesMasters/notesMaster1.xml" Type="http://schemas.openxmlformats.org/officeDocument/2006/relationships/notesMaster"/><Relationship Id="rId22" Target="theme/theme2.xml" Type="http://schemas.openxmlformats.org/officeDocument/2006/relationships/theme"/><Relationship Id="rId23" Target="notesSlides/notesSlide1.xml" Type="http://schemas.openxmlformats.org/officeDocument/2006/relationships/notesSlide"/><Relationship Id="rId24" Target="fonts/font24.fntdata" Type="http://schemas.openxmlformats.org/officeDocument/2006/relationships/font"/><Relationship Id="rId25" Target="fonts/font25.fntdata" Type="http://schemas.openxmlformats.org/officeDocument/2006/relationships/font"/><Relationship Id="rId26" Target="notesSlides/notesSlide2.xml" Type="http://schemas.openxmlformats.org/officeDocument/2006/relationships/notesSlide"/><Relationship Id="rId27" Target="notesSlides/notesSlide3.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notesSlide1.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Bài báo giới thiệu một mô hình tạo ra câu hỏi (QG) mới gọi là mQG (multi-question generation model), nhằm giải quyết thách thức của việc tạo ra các câu hỏi đa dạng và chính xác từ ngữ cảnh. Mô hình này tập trung vào việc sử dụng ngữ cảnh và câu hỏi tham chiếu để tạo ra nhiều câu hỏi có thể trả lời. Để kiểm tra khả năng trả lời của các câu hỏi, mô hình được đánh giá trên tập dữ liệu FairytaleQA và chứng minh hiệu quả qua chuyển đổi không cần dữ liệu trên các tập dữ liệu TellMeWhy và SQuAD1.1. Các đóng góp chính của bài báo bao gồm mở rộng phạm vi nhiệm vụ tạo ra câu hỏi, giới thiệu mô hình mQG và mô hình đánh giá khả năng trả lời câu hỏi.</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2.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Đánh giá và so sánh mQG, với 2 mô hình mạnh mẽ (EQG, QAG) được thực hiện bởi 5 annotator thành thạo tiếng Anh, để đánh giá sâu hơn về độ đa dạng và chất lượng của các câu hỏi được tạo ra.</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3.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Đánh giá và so sánh mQG, với 2 mô hình mạnh mẽ (EQG, QAG) được thực hiện bởi 5 annotator thành thạo tiếng Anh, để đánh giá sâu hơn về độ đa dạng và chất lượng của các câu hỏi được tạo ra.</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804359" y="2767614"/>
            <a:ext cx="14679282" cy="3662940"/>
            <a:chOff x="0" y="0"/>
            <a:chExt cx="3866148" cy="964725"/>
          </a:xfrm>
        </p:grpSpPr>
        <p:sp>
          <p:nvSpPr>
            <p:cNvPr name="Freeform 4" id="4"/>
            <p:cNvSpPr/>
            <p:nvPr/>
          </p:nvSpPr>
          <p:spPr>
            <a:xfrm flipH="false" flipV="false" rot="0">
              <a:off x="0" y="0"/>
              <a:ext cx="3866148" cy="964725"/>
            </a:xfrm>
            <a:custGeom>
              <a:avLst/>
              <a:gdLst/>
              <a:ahLst/>
              <a:cxnLst/>
              <a:rect r="r" b="b" t="t" l="l"/>
              <a:pathLst>
                <a:path h="964725" w="3866148">
                  <a:moveTo>
                    <a:pt x="26898" y="0"/>
                  </a:moveTo>
                  <a:lnTo>
                    <a:pt x="3839251" y="0"/>
                  </a:lnTo>
                  <a:cubicBezTo>
                    <a:pt x="3854106" y="0"/>
                    <a:pt x="3866148" y="12042"/>
                    <a:pt x="3866148" y="26898"/>
                  </a:cubicBezTo>
                  <a:lnTo>
                    <a:pt x="3866148" y="937827"/>
                  </a:lnTo>
                  <a:cubicBezTo>
                    <a:pt x="3866148" y="944961"/>
                    <a:pt x="3863314" y="951802"/>
                    <a:pt x="3858270" y="956847"/>
                  </a:cubicBezTo>
                  <a:cubicBezTo>
                    <a:pt x="3853226" y="961891"/>
                    <a:pt x="3846384" y="964725"/>
                    <a:pt x="3839251" y="964725"/>
                  </a:cubicBezTo>
                  <a:lnTo>
                    <a:pt x="26898" y="964725"/>
                  </a:lnTo>
                  <a:cubicBezTo>
                    <a:pt x="12042" y="964725"/>
                    <a:pt x="0" y="952682"/>
                    <a:pt x="0" y="937827"/>
                  </a:cubicBezTo>
                  <a:lnTo>
                    <a:pt x="0" y="26898"/>
                  </a:lnTo>
                  <a:cubicBezTo>
                    <a:pt x="0" y="12042"/>
                    <a:pt x="12042" y="0"/>
                    <a:pt x="26898" y="0"/>
                  </a:cubicBezTo>
                  <a:close/>
                </a:path>
              </a:pathLst>
            </a:custGeom>
            <a:solidFill>
              <a:srgbClr val="FBFBFB">
                <a:alpha val="89804"/>
              </a:srgbClr>
            </a:solidFill>
          </p:spPr>
        </p:sp>
        <p:sp>
          <p:nvSpPr>
            <p:cNvPr name="TextBox 5" id="5"/>
            <p:cNvSpPr txBox="true"/>
            <p:nvPr/>
          </p:nvSpPr>
          <p:spPr>
            <a:xfrm>
              <a:off x="0" y="-38100"/>
              <a:ext cx="3866148" cy="1002825"/>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804359" y="3012441"/>
            <a:ext cx="14679282" cy="2131059"/>
          </a:xfrm>
          <a:prstGeom prst="rect">
            <a:avLst/>
          </a:prstGeom>
        </p:spPr>
        <p:txBody>
          <a:bodyPr anchor="t" rtlCol="false" tIns="0" lIns="0" bIns="0" rIns="0">
            <a:spAutoFit/>
          </a:bodyPr>
          <a:lstStyle/>
          <a:p>
            <a:pPr algn="ctr">
              <a:lnSpc>
                <a:spcPts val="8540"/>
              </a:lnSpc>
            </a:pPr>
            <a:r>
              <a:rPr lang="en-US" sz="6100">
                <a:solidFill>
                  <a:srgbClr val="0D0F68"/>
                </a:solidFill>
                <a:latin typeface="Yeseva One"/>
                <a:ea typeface="Yeseva One"/>
                <a:cs typeface="Yeseva One"/>
                <a:sym typeface="Yeseva One"/>
              </a:rPr>
              <a:t>Diversity Enhanced Narrative Question Generation for Storybooks</a:t>
            </a:r>
          </a:p>
        </p:txBody>
      </p:sp>
      <p:sp>
        <p:nvSpPr>
          <p:cNvPr name="TextBox 7" id="7"/>
          <p:cNvSpPr txBox="true"/>
          <p:nvPr/>
        </p:nvSpPr>
        <p:spPr>
          <a:xfrm rot="0">
            <a:off x="7320954" y="5492650"/>
            <a:ext cx="11680579" cy="606406"/>
          </a:xfrm>
          <a:prstGeom prst="rect">
            <a:avLst/>
          </a:prstGeom>
        </p:spPr>
        <p:txBody>
          <a:bodyPr anchor="t" rtlCol="false" tIns="0" lIns="0" bIns="0" rIns="0">
            <a:spAutoFit/>
          </a:bodyPr>
          <a:lstStyle/>
          <a:p>
            <a:pPr algn="ctr">
              <a:lnSpc>
                <a:spcPts val="4900"/>
              </a:lnSpc>
            </a:pPr>
            <a:r>
              <a:rPr lang="en-US" sz="3500">
                <a:solidFill>
                  <a:srgbClr val="0D0F68"/>
                </a:solidFill>
                <a:latin typeface="Cabin"/>
                <a:ea typeface="Cabin"/>
                <a:cs typeface="Cabin"/>
                <a:sym typeface="Cabin"/>
              </a:rPr>
              <a:t>Hokeun Yoon - JinYeong Bak </a:t>
            </a:r>
          </a:p>
        </p:txBody>
      </p:sp>
      <p:grpSp>
        <p:nvGrpSpPr>
          <p:cNvPr name="Group 8" id="8"/>
          <p:cNvGrpSpPr/>
          <p:nvPr/>
        </p:nvGrpSpPr>
        <p:grpSpPr>
          <a:xfrm rot="0">
            <a:off x="9144000" y="7353299"/>
            <a:ext cx="7772622" cy="1948397"/>
            <a:chOff x="0" y="0"/>
            <a:chExt cx="2047110" cy="513158"/>
          </a:xfrm>
        </p:grpSpPr>
        <p:sp>
          <p:nvSpPr>
            <p:cNvPr name="Freeform 9" id="9"/>
            <p:cNvSpPr/>
            <p:nvPr/>
          </p:nvSpPr>
          <p:spPr>
            <a:xfrm flipH="false" flipV="false" rot="0">
              <a:off x="0" y="0"/>
              <a:ext cx="2047110" cy="513158"/>
            </a:xfrm>
            <a:custGeom>
              <a:avLst/>
              <a:gdLst/>
              <a:ahLst/>
              <a:cxnLst/>
              <a:rect r="r" b="b" t="t" l="l"/>
              <a:pathLst>
                <a:path h="513158" w="2047110">
                  <a:moveTo>
                    <a:pt x="50799" y="0"/>
                  </a:moveTo>
                  <a:lnTo>
                    <a:pt x="1996312" y="0"/>
                  </a:lnTo>
                  <a:cubicBezTo>
                    <a:pt x="2009784" y="0"/>
                    <a:pt x="2022705" y="5352"/>
                    <a:pt x="2032232" y="14879"/>
                  </a:cubicBezTo>
                  <a:cubicBezTo>
                    <a:pt x="2041758" y="24405"/>
                    <a:pt x="2047110" y="37326"/>
                    <a:pt x="2047110" y="50799"/>
                  </a:cubicBezTo>
                  <a:lnTo>
                    <a:pt x="2047110" y="462359"/>
                  </a:lnTo>
                  <a:cubicBezTo>
                    <a:pt x="2047110" y="490415"/>
                    <a:pt x="2024367" y="513158"/>
                    <a:pt x="1996312" y="513158"/>
                  </a:cubicBezTo>
                  <a:lnTo>
                    <a:pt x="50799" y="513158"/>
                  </a:lnTo>
                  <a:cubicBezTo>
                    <a:pt x="37326" y="513158"/>
                    <a:pt x="24405" y="507806"/>
                    <a:pt x="14879" y="498279"/>
                  </a:cubicBezTo>
                  <a:cubicBezTo>
                    <a:pt x="5352" y="488753"/>
                    <a:pt x="0" y="475832"/>
                    <a:pt x="0" y="462359"/>
                  </a:cubicBezTo>
                  <a:lnTo>
                    <a:pt x="0" y="50799"/>
                  </a:lnTo>
                  <a:cubicBezTo>
                    <a:pt x="0" y="37326"/>
                    <a:pt x="5352" y="24405"/>
                    <a:pt x="14879" y="14879"/>
                  </a:cubicBezTo>
                  <a:cubicBezTo>
                    <a:pt x="24405" y="5352"/>
                    <a:pt x="37326" y="0"/>
                    <a:pt x="50799" y="0"/>
                  </a:cubicBezTo>
                  <a:close/>
                </a:path>
              </a:pathLst>
            </a:custGeom>
            <a:solidFill>
              <a:srgbClr val="FBFBFB">
                <a:alpha val="89804"/>
              </a:srgbClr>
            </a:solidFill>
          </p:spPr>
        </p:sp>
        <p:sp>
          <p:nvSpPr>
            <p:cNvPr name="TextBox 10" id="10"/>
            <p:cNvSpPr txBox="true"/>
            <p:nvPr/>
          </p:nvSpPr>
          <p:spPr>
            <a:xfrm>
              <a:off x="0" y="-38100"/>
              <a:ext cx="2047110" cy="551258"/>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9435192" y="7498987"/>
            <a:ext cx="8862333" cy="1590347"/>
          </a:xfrm>
          <a:prstGeom prst="rect">
            <a:avLst/>
          </a:prstGeom>
        </p:spPr>
        <p:txBody>
          <a:bodyPr anchor="t" rtlCol="false" tIns="0" lIns="0" bIns="0" rIns="0">
            <a:spAutoFit/>
          </a:bodyPr>
          <a:lstStyle/>
          <a:p>
            <a:pPr algn="l">
              <a:lnSpc>
                <a:spcPts val="4205"/>
              </a:lnSpc>
            </a:pPr>
            <a:r>
              <a:rPr lang="en-US" sz="3003">
                <a:solidFill>
                  <a:srgbClr val="0D0F68"/>
                </a:solidFill>
                <a:latin typeface="Cabin"/>
                <a:ea typeface="Cabin"/>
                <a:cs typeface="Cabin"/>
                <a:sym typeface="Cabin"/>
              </a:rPr>
              <a:t>Sinh viên thực hiện: </a:t>
            </a:r>
          </a:p>
          <a:p>
            <a:pPr algn="l" marL="648523" indent="-324261" lvl="1">
              <a:lnSpc>
                <a:spcPts val="4205"/>
              </a:lnSpc>
              <a:buFont typeface="Arial"/>
              <a:buChar char="•"/>
            </a:pPr>
            <a:r>
              <a:rPr lang="en-US" sz="3003">
                <a:solidFill>
                  <a:srgbClr val="0D0F68"/>
                </a:solidFill>
                <a:latin typeface="Cabin"/>
                <a:ea typeface="Cabin"/>
                <a:cs typeface="Cabin"/>
                <a:sym typeface="Cabin"/>
              </a:rPr>
              <a:t>Nguyễn Thị Huyền Trang - 21520488</a:t>
            </a:r>
          </a:p>
          <a:p>
            <a:pPr algn="l" marL="648523" indent="-324261" lvl="1">
              <a:lnSpc>
                <a:spcPts val="4205"/>
              </a:lnSpc>
              <a:buFont typeface="Arial"/>
              <a:buChar char="•"/>
            </a:pPr>
            <a:r>
              <a:rPr lang="en-US" sz="3003">
                <a:solidFill>
                  <a:srgbClr val="0D0F68"/>
                </a:solidFill>
                <a:latin typeface="Cabin"/>
                <a:ea typeface="Cabin"/>
                <a:cs typeface="Cabin"/>
                <a:sym typeface="Cabin"/>
              </a:rPr>
              <a:t>Nguyễn Thị Mai Trinh - 21522718</a:t>
            </a:r>
          </a:p>
        </p:txBody>
      </p:sp>
      <p:sp>
        <p:nvSpPr>
          <p:cNvPr name="TextBox 12" id="12"/>
          <p:cNvSpPr txBox="true"/>
          <p:nvPr/>
        </p:nvSpPr>
        <p:spPr>
          <a:xfrm rot="0">
            <a:off x="10264751" y="9598025"/>
            <a:ext cx="14679282" cy="688975"/>
          </a:xfrm>
          <a:prstGeom prst="rect">
            <a:avLst/>
          </a:prstGeom>
        </p:spPr>
        <p:txBody>
          <a:bodyPr anchor="t" rtlCol="false" tIns="0" lIns="0" bIns="0" rIns="0">
            <a:spAutoFit/>
          </a:bodyPr>
          <a:lstStyle/>
          <a:p>
            <a:pPr algn="ctr">
              <a:lnSpc>
                <a:spcPts val="5599"/>
              </a:lnSpc>
            </a:pPr>
            <a:r>
              <a:rPr lang="en-US" sz="3999">
                <a:solidFill>
                  <a:srgbClr val="0D0F68"/>
                </a:solidFill>
                <a:latin typeface="Yeseva One"/>
                <a:ea typeface="Yeseva One"/>
                <a:cs typeface="Yeseva One"/>
                <a:sym typeface="Yeseva One"/>
              </a:rPr>
              <a:t>01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1158029"/>
            <a:ext cx="16230600" cy="8229600"/>
            <a:chOff x="0" y="0"/>
            <a:chExt cx="4274726" cy="2167467"/>
          </a:xfrm>
        </p:grpSpPr>
        <p:sp>
          <p:nvSpPr>
            <p:cNvPr name="Freeform 4" id="4"/>
            <p:cNvSpPr/>
            <p:nvPr/>
          </p:nvSpPr>
          <p:spPr>
            <a:xfrm flipH="false" flipV="false" rot="0">
              <a:off x="0" y="0"/>
              <a:ext cx="4274726" cy="2167467"/>
            </a:xfrm>
            <a:custGeom>
              <a:avLst/>
              <a:gdLst/>
              <a:ahLst/>
              <a:cxnLst/>
              <a:rect r="r" b="b" t="t" l="l"/>
              <a:pathLst>
                <a:path h="2167467" w="4274726">
                  <a:moveTo>
                    <a:pt x="24327" y="0"/>
                  </a:moveTo>
                  <a:lnTo>
                    <a:pt x="4250399" y="0"/>
                  </a:lnTo>
                  <a:cubicBezTo>
                    <a:pt x="4263834" y="0"/>
                    <a:pt x="4274726" y="10891"/>
                    <a:pt x="4274726" y="24327"/>
                  </a:cubicBezTo>
                  <a:lnTo>
                    <a:pt x="4274726" y="2143140"/>
                  </a:lnTo>
                  <a:cubicBezTo>
                    <a:pt x="4274726" y="2156575"/>
                    <a:pt x="4263834" y="2167467"/>
                    <a:pt x="4250399" y="2167467"/>
                  </a:cubicBezTo>
                  <a:lnTo>
                    <a:pt x="24327" y="2167467"/>
                  </a:lnTo>
                  <a:cubicBezTo>
                    <a:pt x="10891" y="2167467"/>
                    <a:pt x="0" y="2156575"/>
                    <a:pt x="0" y="2143140"/>
                  </a:cubicBezTo>
                  <a:lnTo>
                    <a:pt x="0" y="24327"/>
                  </a:lnTo>
                  <a:cubicBezTo>
                    <a:pt x="0" y="10891"/>
                    <a:pt x="10891" y="0"/>
                    <a:pt x="24327" y="0"/>
                  </a:cubicBezTo>
                  <a:close/>
                </a:path>
              </a:pathLst>
            </a:custGeom>
            <a:solidFill>
              <a:srgbClr val="FBFBFB">
                <a:alpha val="89804"/>
              </a:srgbClr>
            </a:solidFill>
          </p:spPr>
        </p:sp>
        <p:sp>
          <p:nvSpPr>
            <p:cNvPr name="TextBox 5" id="5"/>
            <p:cNvSpPr txBox="true"/>
            <p:nvPr/>
          </p:nvSpPr>
          <p:spPr>
            <a:xfrm>
              <a:off x="0" y="-38100"/>
              <a:ext cx="4274726" cy="2205567"/>
            </a:xfrm>
            <a:prstGeom prst="rect">
              <a:avLst/>
            </a:prstGeom>
          </p:spPr>
          <p:txBody>
            <a:bodyPr anchor="ctr" rtlCol="false" tIns="50800" lIns="50800" bIns="50800" rIns="50800"/>
            <a:lstStyle/>
            <a:p>
              <a:pPr algn="ctr">
                <a:lnSpc>
                  <a:spcPts val="2799"/>
                </a:lnSpc>
              </a:pPr>
            </a:p>
          </p:txBody>
        </p:sp>
      </p:grpSp>
      <p:grpSp>
        <p:nvGrpSpPr>
          <p:cNvPr name="Group 6" id="6"/>
          <p:cNvGrpSpPr/>
          <p:nvPr/>
        </p:nvGrpSpPr>
        <p:grpSpPr>
          <a:xfrm rot="0">
            <a:off x="2239025" y="2615266"/>
            <a:ext cx="6492732" cy="1217823"/>
            <a:chOff x="0" y="0"/>
            <a:chExt cx="1710020" cy="320744"/>
          </a:xfrm>
        </p:grpSpPr>
        <p:sp>
          <p:nvSpPr>
            <p:cNvPr name="Freeform 7" id="7"/>
            <p:cNvSpPr/>
            <p:nvPr/>
          </p:nvSpPr>
          <p:spPr>
            <a:xfrm flipH="false" flipV="false" rot="0">
              <a:off x="0" y="0"/>
              <a:ext cx="1710020" cy="320744"/>
            </a:xfrm>
            <a:custGeom>
              <a:avLst/>
              <a:gdLst/>
              <a:ahLst/>
              <a:cxnLst/>
              <a:rect r="r" b="b" t="t" l="l"/>
              <a:pathLst>
                <a:path h="320744" w="1710020">
                  <a:moveTo>
                    <a:pt x="60812" y="0"/>
                  </a:moveTo>
                  <a:lnTo>
                    <a:pt x="1649208" y="0"/>
                  </a:lnTo>
                  <a:cubicBezTo>
                    <a:pt x="1682793" y="0"/>
                    <a:pt x="1710020" y="27227"/>
                    <a:pt x="1710020" y="60812"/>
                  </a:cubicBezTo>
                  <a:lnTo>
                    <a:pt x="1710020" y="259931"/>
                  </a:lnTo>
                  <a:cubicBezTo>
                    <a:pt x="1710020" y="293517"/>
                    <a:pt x="1682793" y="320744"/>
                    <a:pt x="1649208" y="320744"/>
                  </a:cubicBezTo>
                  <a:lnTo>
                    <a:pt x="60812" y="320744"/>
                  </a:lnTo>
                  <a:cubicBezTo>
                    <a:pt x="27227" y="320744"/>
                    <a:pt x="0" y="293517"/>
                    <a:pt x="0" y="259931"/>
                  </a:cubicBezTo>
                  <a:lnTo>
                    <a:pt x="0" y="60812"/>
                  </a:lnTo>
                  <a:cubicBezTo>
                    <a:pt x="0" y="27227"/>
                    <a:pt x="27227" y="0"/>
                    <a:pt x="60812" y="0"/>
                  </a:cubicBezTo>
                  <a:close/>
                </a:path>
              </a:pathLst>
            </a:custGeom>
            <a:solidFill>
              <a:srgbClr val="0D0F68"/>
            </a:solidFill>
            <a:ln cap="rnd">
              <a:noFill/>
              <a:prstDash val="dash"/>
              <a:round/>
            </a:ln>
          </p:spPr>
        </p:sp>
        <p:sp>
          <p:nvSpPr>
            <p:cNvPr name="TextBox 8" id="8"/>
            <p:cNvSpPr txBox="true"/>
            <p:nvPr/>
          </p:nvSpPr>
          <p:spPr>
            <a:xfrm>
              <a:off x="0" y="-38100"/>
              <a:ext cx="1710020" cy="358844"/>
            </a:xfrm>
            <a:prstGeom prst="rect">
              <a:avLst/>
            </a:prstGeom>
          </p:spPr>
          <p:txBody>
            <a:bodyPr anchor="ctr" rtlCol="false" tIns="50800" lIns="50800" bIns="50800" rIns="50800"/>
            <a:lstStyle/>
            <a:p>
              <a:pPr algn="ctr">
                <a:lnSpc>
                  <a:spcPts val="2799"/>
                </a:lnSpc>
                <a:spcBef>
                  <a:spcPct val="0"/>
                </a:spcBef>
              </a:pPr>
            </a:p>
          </p:txBody>
        </p:sp>
      </p:grpSp>
      <p:sp>
        <p:nvSpPr>
          <p:cNvPr name="TextBox 9" id="9"/>
          <p:cNvSpPr txBox="true"/>
          <p:nvPr/>
        </p:nvSpPr>
        <p:spPr>
          <a:xfrm rot="0">
            <a:off x="2696070" y="2805077"/>
            <a:ext cx="884008" cy="761972"/>
          </a:xfrm>
          <a:prstGeom prst="rect">
            <a:avLst/>
          </a:prstGeom>
        </p:spPr>
        <p:txBody>
          <a:bodyPr anchor="t" rtlCol="false" tIns="0" lIns="0" bIns="0" rIns="0">
            <a:spAutoFit/>
          </a:bodyPr>
          <a:lstStyle/>
          <a:p>
            <a:pPr algn="ctr">
              <a:lnSpc>
                <a:spcPts val="6299"/>
              </a:lnSpc>
            </a:pPr>
            <a:r>
              <a:rPr lang="en-US" sz="4500">
                <a:solidFill>
                  <a:srgbClr val="FFFFFF"/>
                </a:solidFill>
                <a:latin typeface="Noto Serif Bold"/>
                <a:ea typeface="Noto Serif Bold"/>
                <a:cs typeface="Noto Serif Bold"/>
                <a:sym typeface="Noto Serif Bold"/>
              </a:rPr>
              <a:t>01</a:t>
            </a:r>
          </a:p>
        </p:txBody>
      </p:sp>
      <p:sp>
        <p:nvSpPr>
          <p:cNvPr name="TextBox 10" id="10"/>
          <p:cNvSpPr txBox="true"/>
          <p:nvPr/>
        </p:nvSpPr>
        <p:spPr>
          <a:xfrm rot="0">
            <a:off x="4043803" y="2892390"/>
            <a:ext cx="4687954" cy="596882"/>
          </a:xfrm>
          <a:prstGeom prst="rect">
            <a:avLst/>
          </a:prstGeom>
        </p:spPr>
        <p:txBody>
          <a:bodyPr anchor="t" rtlCol="false" tIns="0" lIns="0" bIns="0" rIns="0">
            <a:spAutoFit/>
          </a:bodyPr>
          <a:lstStyle/>
          <a:p>
            <a:pPr algn="l">
              <a:lnSpc>
                <a:spcPts val="4900"/>
              </a:lnSpc>
            </a:pPr>
            <a:r>
              <a:rPr lang="en-US" sz="3500">
                <a:solidFill>
                  <a:srgbClr val="FFFFFF"/>
                </a:solidFill>
                <a:latin typeface="Noto Serif"/>
                <a:ea typeface="Noto Serif"/>
                <a:cs typeface="Noto Serif"/>
                <a:sym typeface="Noto Serif"/>
              </a:rPr>
              <a:t>Giới thiệu</a:t>
            </a:r>
          </a:p>
        </p:txBody>
      </p:sp>
      <p:grpSp>
        <p:nvGrpSpPr>
          <p:cNvPr name="Group 11" id="11"/>
          <p:cNvGrpSpPr/>
          <p:nvPr/>
        </p:nvGrpSpPr>
        <p:grpSpPr>
          <a:xfrm rot="0">
            <a:off x="9556243" y="2615266"/>
            <a:ext cx="6766657" cy="1139531"/>
            <a:chOff x="0" y="0"/>
            <a:chExt cx="1782165" cy="300123"/>
          </a:xfrm>
        </p:grpSpPr>
        <p:sp>
          <p:nvSpPr>
            <p:cNvPr name="Freeform 12" id="12"/>
            <p:cNvSpPr/>
            <p:nvPr/>
          </p:nvSpPr>
          <p:spPr>
            <a:xfrm flipH="false" flipV="false" rot="0">
              <a:off x="0" y="0"/>
              <a:ext cx="1782165" cy="300123"/>
            </a:xfrm>
            <a:custGeom>
              <a:avLst/>
              <a:gdLst/>
              <a:ahLst/>
              <a:cxnLst/>
              <a:rect r="r" b="b" t="t" l="l"/>
              <a:pathLst>
                <a:path h="300123" w="1782165">
                  <a:moveTo>
                    <a:pt x="58351" y="0"/>
                  </a:moveTo>
                  <a:lnTo>
                    <a:pt x="1723814" y="0"/>
                  </a:lnTo>
                  <a:cubicBezTo>
                    <a:pt x="1756040" y="0"/>
                    <a:pt x="1782165" y="26124"/>
                    <a:pt x="1782165" y="58351"/>
                  </a:cubicBezTo>
                  <a:lnTo>
                    <a:pt x="1782165" y="241773"/>
                  </a:lnTo>
                  <a:cubicBezTo>
                    <a:pt x="1782165" y="273999"/>
                    <a:pt x="1756040" y="300123"/>
                    <a:pt x="1723814" y="300123"/>
                  </a:cubicBezTo>
                  <a:lnTo>
                    <a:pt x="58351" y="300123"/>
                  </a:lnTo>
                  <a:cubicBezTo>
                    <a:pt x="26124" y="300123"/>
                    <a:pt x="0" y="273999"/>
                    <a:pt x="0" y="241773"/>
                  </a:cubicBezTo>
                  <a:lnTo>
                    <a:pt x="0" y="58351"/>
                  </a:lnTo>
                  <a:cubicBezTo>
                    <a:pt x="0" y="26124"/>
                    <a:pt x="26124" y="0"/>
                    <a:pt x="58351" y="0"/>
                  </a:cubicBezTo>
                  <a:close/>
                </a:path>
              </a:pathLst>
            </a:custGeom>
            <a:solidFill>
              <a:srgbClr val="65A4CD"/>
            </a:solidFill>
          </p:spPr>
        </p:sp>
        <p:sp>
          <p:nvSpPr>
            <p:cNvPr name="TextBox 13" id="13"/>
            <p:cNvSpPr txBox="true"/>
            <p:nvPr/>
          </p:nvSpPr>
          <p:spPr>
            <a:xfrm>
              <a:off x="0" y="-38100"/>
              <a:ext cx="1782165" cy="338223"/>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0000822" y="2805077"/>
            <a:ext cx="884008" cy="761972"/>
          </a:xfrm>
          <a:prstGeom prst="rect">
            <a:avLst/>
          </a:prstGeom>
        </p:spPr>
        <p:txBody>
          <a:bodyPr anchor="t" rtlCol="false" tIns="0" lIns="0" bIns="0" rIns="0">
            <a:spAutoFit/>
          </a:bodyPr>
          <a:lstStyle/>
          <a:p>
            <a:pPr algn="ctr">
              <a:lnSpc>
                <a:spcPts val="6299"/>
              </a:lnSpc>
            </a:pPr>
            <a:r>
              <a:rPr lang="en-US" sz="4500">
                <a:solidFill>
                  <a:srgbClr val="0D0F68"/>
                </a:solidFill>
                <a:latin typeface="Cabin Bold"/>
                <a:ea typeface="Cabin Bold"/>
                <a:cs typeface="Cabin Bold"/>
                <a:sym typeface="Cabin Bold"/>
              </a:rPr>
              <a:t>02</a:t>
            </a:r>
          </a:p>
        </p:txBody>
      </p:sp>
      <p:sp>
        <p:nvSpPr>
          <p:cNvPr name="TextBox 15" id="15"/>
          <p:cNvSpPr txBox="true"/>
          <p:nvPr/>
        </p:nvSpPr>
        <p:spPr>
          <a:xfrm rot="0">
            <a:off x="11351556" y="2892390"/>
            <a:ext cx="4687954" cy="596882"/>
          </a:xfrm>
          <a:prstGeom prst="rect">
            <a:avLst/>
          </a:prstGeom>
        </p:spPr>
        <p:txBody>
          <a:bodyPr anchor="t" rtlCol="false" tIns="0" lIns="0" bIns="0" rIns="0">
            <a:spAutoFit/>
          </a:bodyPr>
          <a:lstStyle/>
          <a:p>
            <a:pPr algn="l">
              <a:lnSpc>
                <a:spcPts val="4900"/>
              </a:lnSpc>
            </a:pPr>
            <a:r>
              <a:rPr lang="en-US" sz="3500">
                <a:solidFill>
                  <a:srgbClr val="0D0F68"/>
                </a:solidFill>
                <a:latin typeface="Noto Serif"/>
                <a:ea typeface="Noto Serif"/>
                <a:cs typeface="Noto Serif"/>
                <a:sym typeface="Noto Serif"/>
              </a:rPr>
              <a:t>Phương pháp</a:t>
            </a:r>
          </a:p>
        </p:txBody>
      </p:sp>
      <p:grpSp>
        <p:nvGrpSpPr>
          <p:cNvPr name="Group 16" id="16"/>
          <p:cNvGrpSpPr/>
          <p:nvPr/>
        </p:nvGrpSpPr>
        <p:grpSpPr>
          <a:xfrm rot="0">
            <a:off x="5897634" y="7047104"/>
            <a:ext cx="6492732" cy="1217795"/>
            <a:chOff x="0" y="0"/>
            <a:chExt cx="1710020" cy="320736"/>
          </a:xfrm>
        </p:grpSpPr>
        <p:sp>
          <p:nvSpPr>
            <p:cNvPr name="Freeform 17" id="17"/>
            <p:cNvSpPr/>
            <p:nvPr/>
          </p:nvSpPr>
          <p:spPr>
            <a:xfrm flipH="false" flipV="false" rot="0">
              <a:off x="0" y="0"/>
              <a:ext cx="1710020" cy="320736"/>
            </a:xfrm>
            <a:custGeom>
              <a:avLst/>
              <a:gdLst/>
              <a:ahLst/>
              <a:cxnLst/>
              <a:rect r="r" b="b" t="t" l="l"/>
              <a:pathLst>
                <a:path h="320736" w="1710020">
                  <a:moveTo>
                    <a:pt x="60812" y="0"/>
                  </a:moveTo>
                  <a:lnTo>
                    <a:pt x="1649208" y="0"/>
                  </a:lnTo>
                  <a:cubicBezTo>
                    <a:pt x="1682793" y="0"/>
                    <a:pt x="1710020" y="27227"/>
                    <a:pt x="1710020" y="60812"/>
                  </a:cubicBezTo>
                  <a:lnTo>
                    <a:pt x="1710020" y="259924"/>
                  </a:lnTo>
                  <a:cubicBezTo>
                    <a:pt x="1710020" y="293510"/>
                    <a:pt x="1682793" y="320736"/>
                    <a:pt x="1649208" y="320736"/>
                  </a:cubicBezTo>
                  <a:lnTo>
                    <a:pt x="60812" y="320736"/>
                  </a:lnTo>
                  <a:cubicBezTo>
                    <a:pt x="27227" y="320736"/>
                    <a:pt x="0" y="293510"/>
                    <a:pt x="0" y="259924"/>
                  </a:cubicBezTo>
                  <a:lnTo>
                    <a:pt x="0" y="60812"/>
                  </a:lnTo>
                  <a:cubicBezTo>
                    <a:pt x="0" y="27227"/>
                    <a:pt x="27227" y="0"/>
                    <a:pt x="60812" y="0"/>
                  </a:cubicBezTo>
                  <a:close/>
                </a:path>
              </a:pathLst>
            </a:custGeom>
            <a:solidFill>
              <a:srgbClr val="0D0F68"/>
            </a:solidFill>
          </p:spPr>
        </p:sp>
        <p:sp>
          <p:nvSpPr>
            <p:cNvPr name="TextBox 18" id="18"/>
            <p:cNvSpPr txBox="true"/>
            <p:nvPr/>
          </p:nvSpPr>
          <p:spPr>
            <a:xfrm>
              <a:off x="0" y="-38100"/>
              <a:ext cx="1710020" cy="358836"/>
            </a:xfrm>
            <a:prstGeom prst="rect">
              <a:avLst/>
            </a:prstGeom>
          </p:spPr>
          <p:txBody>
            <a:bodyPr anchor="ctr" rtlCol="false" tIns="50800" lIns="50800" bIns="50800" rIns="50800"/>
            <a:lstStyle/>
            <a:p>
              <a:pPr algn="ctr">
                <a:lnSpc>
                  <a:spcPts val="2659"/>
                </a:lnSpc>
                <a:spcBef>
                  <a:spcPct val="0"/>
                </a:spcBef>
              </a:pPr>
            </a:p>
          </p:txBody>
        </p:sp>
      </p:grpSp>
      <p:sp>
        <p:nvSpPr>
          <p:cNvPr name="TextBox 19" id="19"/>
          <p:cNvSpPr txBox="true"/>
          <p:nvPr/>
        </p:nvSpPr>
        <p:spPr>
          <a:xfrm rot="0">
            <a:off x="6342213" y="7313804"/>
            <a:ext cx="884008" cy="761972"/>
          </a:xfrm>
          <a:prstGeom prst="rect">
            <a:avLst/>
          </a:prstGeom>
        </p:spPr>
        <p:txBody>
          <a:bodyPr anchor="t" rtlCol="false" tIns="0" lIns="0" bIns="0" rIns="0">
            <a:spAutoFit/>
          </a:bodyPr>
          <a:lstStyle/>
          <a:p>
            <a:pPr algn="ctr">
              <a:lnSpc>
                <a:spcPts val="6299"/>
              </a:lnSpc>
            </a:pPr>
            <a:r>
              <a:rPr lang="en-US" sz="4500">
                <a:solidFill>
                  <a:srgbClr val="FFFFFF"/>
                </a:solidFill>
                <a:latin typeface="Cabin Bold"/>
                <a:ea typeface="Cabin Bold"/>
                <a:cs typeface="Cabin Bold"/>
                <a:sym typeface="Cabin Bold"/>
              </a:rPr>
              <a:t>05</a:t>
            </a:r>
          </a:p>
        </p:txBody>
      </p:sp>
      <p:sp>
        <p:nvSpPr>
          <p:cNvPr name="TextBox 20" id="20"/>
          <p:cNvSpPr txBox="true"/>
          <p:nvPr/>
        </p:nvSpPr>
        <p:spPr>
          <a:xfrm rot="0">
            <a:off x="7702412" y="7401116"/>
            <a:ext cx="4687954" cy="596882"/>
          </a:xfrm>
          <a:prstGeom prst="rect">
            <a:avLst/>
          </a:prstGeom>
        </p:spPr>
        <p:txBody>
          <a:bodyPr anchor="t" rtlCol="false" tIns="0" lIns="0" bIns="0" rIns="0">
            <a:spAutoFit/>
          </a:bodyPr>
          <a:lstStyle/>
          <a:p>
            <a:pPr algn="l">
              <a:lnSpc>
                <a:spcPts val="4900"/>
              </a:lnSpc>
            </a:pPr>
            <a:r>
              <a:rPr lang="en-US" sz="3500">
                <a:solidFill>
                  <a:srgbClr val="FFFFFF"/>
                </a:solidFill>
                <a:latin typeface="Noto Serif"/>
                <a:ea typeface="Noto Serif"/>
                <a:cs typeface="Noto Serif"/>
                <a:sym typeface="Noto Serif"/>
              </a:rPr>
              <a:t>Kết luận</a:t>
            </a:r>
          </a:p>
        </p:txBody>
      </p:sp>
      <p:grpSp>
        <p:nvGrpSpPr>
          <p:cNvPr name="Group 21" id="21"/>
          <p:cNvGrpSpPr/>
          <p:nvPr/>
        </p:nvGrpSpPr>
        <p:grpSpPr>
          <a:xfrm rot="0">
            <a:off x="9556243" y="4829184"/>
            <a:ext cx="6766657" cy="1217795"/>
            <a:chOff x="0" y="0"/>
            <a:chExt cx="1782165" cy="320736"/>
          </a:xfrm>
        </p:grpSpPr>
        <p:sp>
          <p:nvSpPr>
            <p:cNvPr name="Freeform 22" id="22"/>
            <p:cNvSpPr/>
            <p:nvPr/>
          </p:nvSpPr>
          <p:spPr>
            <a:xfrm flipH="false" flipV="false" rot="0">
              <a:off x="0" y="0"/>
              <a:ext cx="1782165" cy="320736"/>
            </a:xfrm>
            <a:custGeom>
              <a:avLst/>
              <a:gdLst/>
              <a:ahLst/>
              <a:cxnLst/>
              <a:rect r="r" b="b" t="t" l="l"/>
              <a:pathLst>
                <a:path h="320736" w="1782165">
                  <a:moveTo>
                    <a:pt x="58351" y="0"/>
                  </a:moveTo>
                  <a:lnTo>
                    <a:pt x="1723814" y="0"/>
                  </a:lnTo>
                  <a:cubicBezTo>
                    <a:pt x="1756040" y="0"/>
                    <a:pt x="1782165" y="26124"/>
                    <a:pt x="1782165" y="58351"/>
                  </a:cubicBezTo>
                  <a:lnTo>
                    <a:pt x="1782165" y="262386"/>
                  </a:lnTo>
                  <a:cubicBezTo>
                    <a:pt x="1782165" y="294612"/>
                    <a:pt x="1756040" y="320736"/>
                    <a:pt x="1723814" y="320736"/>
                  </a:cubicBezTo>
                  <a:lnTo>
                    <a:pt x="58351" y="320736"/>
                  </a:lnTo>
                  <a:cubicBezTo>
                    <a:pt x="26124" y="320736"/>
                    <a:pt x="0" y="294612"/>
                    <a:pt x="0" y="262386"/>
                  </a:cubicBezTo>
                  <a:lnTo>
                    <a:pt x="0" y="58351"/>
                  </a:lnTo>
                  <a:cubicBezTo>
                    <a:pt x="0" y="26124"/>
                    <a:pt x="26124" y="0"/>
                    <a:pt x="58351" y="0"/>
                  </a:cubicBezTo>
                  <a:close/>
                </a:path>
              </a:pathLst>
            </a:custGeom>
            <a:solidFill>
              <a:srgbClr val="65A4CD"/>
            </a:solidFill>
          </p:spPr>
        </p:sp>
        <p:sp>
          <p:nvSpPr>
            <p:cNvPr name="TextBox 23" id="23"/>
            <p:cNvSpPr txBox="true"/>
            <p:nvPr/>
          </p:nvSpPr>
          <p:spPr>
            <a:xfrm>
              <a:off x="0" y="-66675"/>
              <a:ext cx="1782165" cy="387411"/>
            </a:xfrm>
            <a:prstGeom prst="rect">
              <a:avLst/>
            </a:prstGeom>
          </p:spPr>
          <p:txBody>
            <a:bodyPr anchor="ctr" rtlCol="false" tIns="50800" lIns="50800" bIns="50800" rIns="50800"/>
            <a:lstStyle/>
            <a:p>
              <a:pPr algn="ctr">
                <a:lnSpc>
                  <a:spcPts val="4900"/>
                </a:lnSpc>
                <a:spcBef>
                  <a:spcPct val="0"/>
                </a:spcBef>
              </a:pPr>
            </a:p>
          </p:txBody>
        </p:sp>
      </p:grpSp>
      <p:sp>
        <p:nvSpPr>
          <p:cNvPr name="TextBox 24" id="24"/>
          <p:cNvSpPr txBox="true"/>
          <p:nvPr/>
        </p:nvSpPr>
        <p:spPr>
          <a:xfrm rot="0">
            <a:off x="10000822" y="5025450"/>
            <a:ext cx="884008" cy="761972"/>
          </a:xfrm>
          <a:prstGeom prst="rect">
            <a:avLst/>
          </a:prstGeom>
        </p:spPr>
        <p:txBody>
          <a:bodyPr anchor="t" rtlCol="false" tIns="0" lIns="0" bIns="0" rIns="0">
            <a:spAutoFit/>
          </a:bodyPr>
          <a:lstStyle/>
          <a:p>
            <a:pPr algn="ctr">
              <a:lnSpc>
                <a:spcPts val="6299"/>
              </a:lnSpc>
            </a:pPr>
            <a:r>
              <a:rPr lang="en-US" sz="4500">
                <a:solidFill>
                  <a:srgbClr val="0D0F68"/>
                </a:solidFill>
                <a:latin typeface="Noto Serif Bold"/>
                <a:ea typeface="Noto Serif Bold"/>
                <a:cs typeface="Noto Serif Bold"/>
                <a:sym typeface="Noto Serif Bold"/>
              </a:rPr>
              <a:t>04</a:t>
            </a:r>
          </a:p>
        </p:txBody>
      </p:sp>
      <p:sp>
        <p:nvSpPr>
          <p:cNvPr name="TextBox 25" id="25"/>
          <p:cNvSpPr txBox="true"/>
          <p:nvPr/>
        </p:nvSpPr>
        <p:spPr>
          <a:xfrm rot="0">
            <a:off x="11342031" y="5112758"/>
            <a:ext cx="4687954" cy="596882"/>
          </a:xfrm>
          <a:prstGeom prst="rect">
            <a:avLst/>
          </a:prstGeom>
        </p:spPr>
        <p:txBody>
          <a:bodyPr anchor="t" rtlCol="false" tIns="0" lIns="0" bIns="0" rIns="0">
            <a:spAutoFit/>
          </a:bodyPr>
          <a:lstStyle/>
          <a:p>
            <a:pPr algn="l">
              <a:lnSpc>
                <a:spcPts val="4900"/>
              </a:lnSpc>
            </a:pPr>
            <a:r>
              <a:rPr lang="en-US" sz="3500">
                <a:solidFill>
                  <a:srgbClr val="0D0F68"/>
                </a:solidFill>
                <a:latin typeface="Noto Serif"/>
                <a:ea typeface="Noto Serif"/>
                <a:cs typeface="Noto Serif"/>
                <a:sym typeface="Noto Serif"/>
              </a:rPr>
              <a:t>Nghiên cứu Ablation</a:t>
            </a:r>
          </a:p>
        </p:txBody>
      </p:sp>
      <p:grpSp>
        <p:nvGrpSpPr>
          <p:cNvPr name="Group 26" id="26"/>
          <p:cNvGrpSpPr/>
          <p:nvPr/>
        </p:nvGrpSpPr>
        <p:grpSpPr>
          <a:xfrm rot="0">
            <a:off x="2239025" y="4829184"/>
            <a:ext cx="6492732" cy="1217795"/>
            <a:chOff x="0" y="0"/>
            <a:chExt cx="1710020" cy="320736"/>
          </a:xfrm>
        </p:grpSpPr>
        <p:sp>
          <p:nvSpPr>
            <p:cNvPr name="Freeform 27" id="27"/>
            <p:cNvSpPr/>
            <p:nvPr/>
          </p:nvSpPr>
          <p:spPr>
            <a:xfrm flipH="false" flipV="false" rot="0">
              <a:off x="0" y="0"/>
              <a:ext cx="1710020" cy="320736"/>
            </a:xfrm>
            <a:custGeom>
              <a:avLst/>
              <a:gdLst/>
              <a:ahLst/>
              <a:cxnLst/>
              <a:rect r="r" b="b" t="t" l="l"/>
              <a:pathLst>
                <a:path h="320736" w="1710020">
                  <a:moveTo>
                    <a:pt x="60812" y="0"/>
                  </a:moveTo>
                  <a:lnTo>
                    <a:pt x="1649208" y="0"/>
                  </a:lnTo>
                  <a:cubicBezTo>
                    <a:pt x="1682793" y="0"/>
                    <a:pt x="1710020" y="27227"/>
                    <a:pt x="1710020" y="60812"/>
                  </a:cubicBezTo>
                  <a:lnTo>
                    <a:pt x="1710020" y="259924"/>
                  </a:lnTo>
                  <a:cubicBezTo>
                    <a:pt x="1710020" y="293510"/>
                    <a:pt x="1682793" y="320736"/>
                    <a:pt x="1649208" y="320736"/>
                  </a:cubicBezTo>
                  <a:lnTo>
                    <a:pt x="60812" y="320736"/>
                  </a:lnTo>
                  <a:cubicBezTo>
                    <a:pt x="27227" y="320736"/>
                    <a:pt x="0" y="293510"/>
                    <a:pt x="0" y="259924"/>
                  </a:cubicBezTo>
                  <a:lnTo>
                    <a:pt x="0" y="60812"/>
                  </a:lnTo>
                  <a:cubicBezTo>
                    <a:pt x="0" y="27227"/>
                    <a:pt x="27227" y="0"/>
                    <a:pt x="60812" y="0"/>
                  </a:cubicBezTo>
                  <a:close/>
                </a:path>
              </a:pathLst>
            </a:custGeom>
            <a:solidFill>
              <a:srgbClr val="0D0F68"/>
            </a:solidFill>
          </p:spPr>
        </p:sp>
        <p:sp>
          <p:nvSpPr>
            <p:cNvPr name="TextBox 28" id="28"/>
            <p:cNvSpPr txBox="true"/>
            <p:nvPr/>
          </p:nvSpPr>
          <p:spPr>
            <a:xfrm>
              <a:off x="0" y="-66675"/>
              <a:ext cx="1710020" cy="387411"/>
            </a:xfrm>
            <a:prstGeom prst="rect">
              <a:avLst/>
            </a:prstGeom>
          </p:spPr>
          <p:txBody>
            <a:bodyPr anchor="ctr" rtlCol="false" tIns="50800" lIns="50800" bIns="50800" rIns="50800"/>
            <a:lstStyle/>
            <a:p>
              <a:pPr algn="ctr">
                <a:lnSpc>
                  <a:spcPts val="4200"/>
                </a:lnSpc>
                <a:spcBef>
                  <a:spcPct val="0"/>
                </a:spcBef>
              </a:pPr>
            </a:p>
          </p:txBody>
        </p:sp>
      </p:grpSp>
      <p:sp>
        <p:nvSpPr>
          <p:cNvPr name="TextBox 29" id="29"/>
          <p:cNvSpPr txBox="true"/>
          <p:nvPr/>
        </p:nvSpPr>
        <p:spPr>
          <a:xfrm rot="0">
            <a:off x="2657970" y="5018995"/>
            <a:ext cx="884008" cy="761972"/>
          </a:xfrm>
          <a:prstGeom prst="rect">
            <a:avLst/>
          </a:prstGeom>
        </p:spPr>
        <p:txBody>
          <a:bodyPr anchor="t" rtlCol="false" tIns="0" lIns="0" bIns="0" rIns="0">
            <a:spAutoFit/>
          </a:bodyPr>
          <a:lstStyle/>
          <a:p>
            <a:pPr algn="ctr">
              <a:lnSpc>
                <a:spcPts val="6299"/>
              </a:lnSpc>
            </a:pPr>
            <a:r>
              <a:rPr lang="en-US" sz="4500">
                <a:solidFill>
                  <a:srgbClr val="FFFFFF"/>
                </a:solidFill>
                <a:latin typeface="Noto Serif Bold"/>
                <a:ea typeface="Noto Serif Bold"/>
                <a:cs typeface="Noto Serif Bold"/>
                <a:sym typeface="Noto Serif Bold"/>
              </a:rPr>
              <a:t>03</a:t>
            </a:r>
          </a:p>
        </p:txBody>
      </p:sp>
      <p:sp>
        <p:nvSpPr>
          <p:cNvPr name="TextBox 30" id="30"/>
          <p:cNvSpPr txBox="true"/>
          <p:nvPr/>
        </p:nvSpPr>
        <p:spPr>
          <a:xfrm rot="0">
            <a:off x="3996178" y="5076825"/>
            <a:ext cx="4687954" cy="596882"/>
          </a:xfrm>
          <a:prstGeom prst="rect">
            <a:avLst/>
          </a:prstGeom>
        </p:spPr>
        <p:txBody>
          <a:bodyPr anchor="t" rtlCol="false" tIns="0" lIns="0" bIns="0" rIns="0">
            <a:spAutoFit/>
          </a:bodyPr>
          <a:lstStyle/>
          <a:p>
            <a:pPr algn="l">
              <a:lnSpc>
                <a:spcPts val="4900"/>
              </a:lnSpc>
            </a:pPr>
            <a:r>
              <a:rPr lang="en-US" sz="3500">
                <a:solidFill>
                  <a:srgbClr val="FFFFFF"/>
                </a:solidFill>
                <a:latin typeface="Noto Serif"/>
                <a:ea typeface="Noto Serif"/>
                <a:cs typeface="Noto Serif"/>
                <a:sym typeface="Noto Serif"/>
              </a:rPr>
              <a:t>Thực nghiệm</a:t>
            </a:r>
          </a:p>
        </p:txBody>
      </p:sp>
      <p:sp>
        <p:nvSpPr>
          <p:cNvPr name="TextBox 31" id="31"/>
          <p:cNvSpPr txBox="true"/>
          <p:nvPr/>
        </p:nvSpPr>
        <p:spPr>
          <a:xfrm rot="0">
            <a:off x="10046389" y="9598025"/>
            <a:ext cx="14679282" cy="688975"/>
          </a:xfrm>
          <a:prstGeom prst="rect">
            <a:avLst/>
          </a:prstGeom>
        </p:spPr>
        <p:txBody>
          <a:bodyPr anchor="t" rtlCol="false" tIns="0" lIns="0" bIns="0" rIns="0">
            <a:spAutoFit/>
          </a:bodyPr>
          <a:lstStyle/>
          <a:p>
            <a:pPr algn="ctr">
              <a:lnSpc>
                <a:spcPts val="5599"/>
              </a:lnSpc>
            </a:pPr>
            <a:r>
              <a:rPr lang="en-US" sz="3999">
                <a:solidFill>
                  <a:srgbClr val="0D0F68"/>
                </a:solidFill>
                <a:latin typeface="Yeseva One"/>
                <a:ea typeface="Yeseva One"/>
                <a:cs typeface="Yeseva One"/>
                <a:sym typeface="Yeseva One"/>
              </a:rPr>
              <a:t>02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1028700" y="1028700"/>
            <a:ext cx="17259300" cy="9258300"/>
            <a:chOff x="0" y="0"/>
            <a:chExt cx="4545659" cy="2438400"/>
          </a:xfrm>
        </p:grpSpPr>
        <p:sp>
          <p:nvSpPr>
            <p:cNvPr name="Freeform 4" id="4"/>
            <p:cNvSpPr/>
            <p:nvPr/>
          </p:nvSpPr>
          <p:spPr>
            <a:xfrm flipH="false" flipV="false" rot="0">
              <a:off x="0" y="0"/>
              <a:ext cx="4545659" cy="2438400"/>
            </a:xfrm>
            <a:custGeom>
              <a:avLst/>
              <a:gdLst/>
              <a:ahLst/>
              <a:cxnLst/>
              <a:rect r="r" b="b" t="t" l="l"/>
              <a:pathLst>
                <a:path h="2438400" w="4545659">
                  <a:moveTo>
                    <a:pt x="22877" y="0"/>
                  </a:moveTo>
                  <a:lnTo>
                    <a:pt x="4522782" y="0"/>
                  </a:lnTo>
                  <a:cubicBezTo>
                    <a:pt x="4528850" y="0"/>
                    <a:pt x="4534669" y="2410"/>
                    <a:pt x="4538959" y="6700"/>
                  </a:cubicBezTo>
                  <a:cubicBezTo>
                    <a:pt x="4543249" y="10991"/>
                    <a:pt x="4545659" y="16810"/>
                    <a:pt x="4545659" y="22877"/>
                  </a:cubicBezTo>
                  <a:lnTo>
                    <a:pt x="4545659" y="2415523"/>
                  </a:lnTo>
                  <a:cubicBezTo>
                    <a:pt x="4545659" y="2421591"/>
                    <a:pt x="4543249" y="2427409"/>
                    <a:pt x="4538959" y="2431700"/>
                  </a:cubicBezTo>
                  <a:cubicBezTo>
                    <a:pt x="4534669" y="2435990"/>
                    <a:pt x="4528850" y="2438400"/>
                    <a:pt x="4522782" y="2438400"/>
                  </a:cubicBezTo>
                  <a:lnTo>
                    <a:pt x="22877" y="2438400"/>
                  </a:lnTo>
                  <a:cubicBezTo>
                    <a:pt x="16810" y="2438400"/>
                    <a:pt x="10991" y="2435990"/>
                    <a:pt x="6700" y="2431700"/>
                  </a:cubicBezTo>
                  <a:cubicBezTo>
                    <a:pt x="2410" y="2427409"/>
                    <a:pt x="0" y="2421591"/>
                    <a:pt x="0" y="2415523"/>
                  </a:cubicBezTo>
                  <a:lnTo>
                    <a:pt x="0" y="22877"/>
                  </a:lnTo>
                  <a:cubicBezTo>
                    <a:pt x="0" y="16810"/>
                    <a:pt x="2410" y="10991"/>
                    <a:pt x="6700" y="6700"/>
                  </a:cubicBezTo>
                  <a:cubicBezTo>
                    <a:pt x="10991" y="2410"/>
                    <a:pt x="16810" y="0"/>
                    <a:pt x="22877" y="0"/>
                  </a:cubicBezTo>
                  <a:close/>
                </a:path>
              </a:pathLst>
            </a:custGeom>
            <a:solidFill>
              <a:srgbClr val="FBFBFB">
                <a:alpha val="89804"/>
              </a:srgbClr>
            </a:solidFill>
          </p:spPr>
        </p:sp>
        <p:sp>
          <p:nvSpPr>
            <p:cNvPr name="TextBox 5" id="5"/>
            <p:cNvSpPr txBox="true"/>
            <p:nvPr/>
          </p:nvSpPr>
          <p:spPr>
            <a:xfrm>
              <a:off x="0" y="-38100"/>
              <a:ext cx="4545659" cy="24765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601846" y="419788"/>
            <a:ext cx="7163655" cy="1217823"/>
            <a:chOff x="0" y="0"/>
            <a:chExt cx="1886724" cy="320744"/>
          </a:xfrm>
        </p:grpSpPr>
        <p:sp>
          <p:nvSpPr>
            <p:cNvPr name="Freeform 7" id="7"/>
            <p:cNvSpPr/>
            <p:nvPr/>
          </p:nvSpPr>
          <p:spPr>
            <a:xfrm flipH="false" flipV="false" rot="0">
              <a:off x="0" y="0"/>
              <a:ext cx="1886724" cy="320744"/>
            </a:xfrm>
            <a:custGeom>
              <a:avLst/>
              <a:gdLst/>
              <a:ahLst/>
              <a:cxnLst/>
              <a:rect r="r" b="b" t="t" l="l"/>
              <a:pathLst>
                <a:path h="320744" w="1886724">
                  <a:moveTo>
                    <a:pt x="55117" y="0"/>
                  </a:moveTo>
                  <a:lnTo>
                    <a:pt x="1831607" y="0"/>
                  </a:lnTo>
                  <a:cubicBezTo>
                    <a:pt x="1862047" y="0"/>
                    <a:pt x="1886724" y="24677"/>
                    <a:pt x="1886724" y="55117"/>
                  </a:cubicBezTo>
                  <a:lnTo>
                    <a:pt x="1886724" y="265627"/>
                  </a:lnTo>
                  <a:cubicBezTo>
                    <a:pt x="1886724" y="280245"/>
                    <a:pt x="1880917" y="294264"/>
                    <a:pt x="1870581" y="304600"/>
                  </a:cubicBezTo>
                  <a:cubicBezTo>
                    <a:pt x="1860244" y="314937"/>
                    <a:pt x="1846225" y="320744"/>
                    <a:pt x="1831607" y="320744"/>
                  </a:cubicBezTo>
                  <a:lnTo>
                    <a:pt x="55117" y="320744"/>
                  </a:lnTo>
                  <a:cubicBezTo>
                    <a:pt x="40499" y="320744"/>
                    <a:pt x="26480" y="314937"/>
                    <a:pt x="16143" y="304600"/>
                  </a:cubicBezTo>
                  <a:cubicBezTo>
                    <a:pt x="5807" y="294264"/>
                    <a:pt x="0" y="280245"/>
                    <a:pt x="0" y="265627"/>
                  </a:cubicBezTo>
                  <a:lnTo>
                    <a:pt x="0" y="55117"/>
                  </a:lnTo>
                  <a:cubicBezTo>
                    <a:pt x="0" y="40499"/>
                    <a:pt x="5807" y="26480"/>
                    <a:pt x="16143" y="16143"/>
                  </a:cubicBezTo>
                  <a:cubicBezTo>
                    <a:pt x="26480" y="5807"/>
                    <a:pt x="40499" y="0"/>
                    <a:pt x="55117" y="0"/>
                  </a:cubicBezTo>
                  <a:close/>
                </a:path>
              </a:pathLst>
            </a:custGeom>
            <a:solidFill>
              <a:srgbClr val="0D0F68"/>
            </a:solidFill>
          </p:spPr>
        </p:sp>
        <p:sp>
          <p:nvSpPr>
            <p:cNvPr name="TextBox 8" id="8"/>
            <p:cNvSpPr txBox="true"/>
            <p:nvPr/>
          </p:nvSpPr>
          <p:spPr>
            <a:xfrm>
              <a:off x="0" y="-38100"/>
              <a:ext cx="1886724" cy="358844"/>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4479664" y="4228491"/>
            <a:ext cx="2350097" cy="2033549"/>
            <a:chOff x="0" y="0"/>
            <a:chExt cx="3133463" cy="2711399"/>
          </a:xfrm>
        </p:grpSpPr>
        <p:sp>
          <p:nvSpPr>
            <p:cNvPr name="Freeform 10" id="10"/>
            <p:cNvSpPr/>
            <p:nvPr/>
          </p:nvSpPr>
          <p:spPr>
            <a:xfrm flipH="false" flipV="false" rot="0">
              <a:off x="451638" y="0"/>
              <a:ext cx="2044262" cy="2044262"/>
            </a:xfrm>
            <a:custGeom>
              <a:avLst/>
              <a:gdLst/>
              <a:ahLst/>
              <a:cxnLst/>
              <a:rect r="r" b="b" t="t" l="l"/>
              <a:pathLst>
                <a:path h="2044262" w="2044262">
                  <a:moveTo>
                    <a:pt x="0" y="0"/>
                  </a:moveTo>
                  <a:lnTo>
                    <a:pt x="2044262" y="0"/>
                  </a:lnTo>
                  <a:lnTo>
                    <a:pt x="2044262" y="2044262"/>
                  </a:lnTo>
                  <a:lnTo>
                    <a:pt x="0" y="20442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0" y="2070965"/>
              <a:ext cx="3133463" cy="640434"/>
            </a:xfrm>
            <a:prstGeom prst="rect">
              <a:avLst/>
            </a:prstGeom>
          </p:spPr>
          <p:txBody>
            <a:bodyPr anchor="t" rtlCol="false" tIns="0" lIns="0" bIns="0" rIns="0">
              <a:spAutoFit/>
            </a:bodyPr>
            <a:lstStyle/>
            <a:p>
              <a:pPr algn="ctr">
                <a:lnSpc>
                  <a:spcPts val="1997"/>
                </a:lnSpc>
              </a:pPr>
              <a:r>
                <a:rPr lang="en-US" sz="1426">
                  <a:solidFill>
                    <a:srgbClr val="125794"/>
                  </a:solidFill>
                  <a:latin typeface="Noto Serif"/>
                  <a:ea typeface="Noto Serif"/>
                  <a:cs typeface="Noto Serif"/>
                  <a:sym typeface="Noto Serif"/>
                </a:rPr>
                <a:t>mQG (multi-question generation model)</a:t>
              </a:r>
            </a:p>
          </p:txBody>
        </p:sp>
      </p:grpSp>
      <p:grpSp>
        <p:nvGrpSpPr>
          <p:cNvPr name="Group 12" id="12"/>
          <p:cNvGrpSpPr/>
          <p:nvPr/>
        </p:nvGrpSpPr>
        <p:grpSpPr>
          <a:xfrm rot="0">
            <a:off x="13414606" y="2560355"/>
            <a:ext cx="1453878" cy="1117269"/>
            <a:chOff x="0" y="0"/>
            <a:chExt cx="1938503" cy="1489692"/>
          </a:xfrm>
        </p:grpSpPr>
        <p:sp>
          <p:nvSpPr>
            <p:cNvPr name="Freeform 13" id="13"/>
            <p:cNvSpPr/>
            <p:nvPr/>
          </p:nvSpPr>
          <p:spPr>
            <a:xfrm flipH="false" flipV="false" rot="0">
              <a:off x="0" y="0"/>
              <a:ext cx="1938503" cy="1211211"/>
            </a:xfrm>
            <a:custGeom>
              <a:avLst/>
              <a:gdLst/>
              <a:ahLst/>
              <a:cxnLst/>
              <a:rect r="r" b="b" t="t" l="l"/>
              <a:pathLst>
                <a:path h="1211211" w="1938503">
                  <a:moveTo>
                    <a:pt x="0" y="0"/>
                  </a:moveTo>
                  <a:lnTo>
                    <a:pt x="1938503" y="0"/>
                  </a:lnTo>
                  <a:lnTo>
                    <a:pt x="1938503" y="1211211"/>
                  </a:lnTo>
                  <a:lnTo>
                    <a:pt x="0" y="1211211"/>
                  </a:lnTo>
                  <a:lnTo>
                    <a:pt x="0" y="0"/>
                  </a:lnTo>
                  <a:close/>
                </a:path>
              </a:pathLst>
            </a:custGeom>
            <a:blipFill>
              <a:blip r:embed="rId6"/>
              <a:stretch>
                <a:fillRect l="0" t="0" r="0" b="0"/>
              </a:stretch>
            </a:blipFill>
          </p:spPr>
        </p:sp>
        <p:sp>
          <p:nvSpPr>
            <p:cNvPr name="TextBox 14" id="14"/>
            <p:cNvSpPr txBox="true"/>
            <p:nvPr/>
          </p:nvSpPr>
          <p:spPr>
            <a:xfrm rot="0">
              <a:off x="269708" y="1182636"/>
              <a:ext cx="1399088" cy="307056"/>
            </a:xfrm>
            <a:prstGeom prst="rect">
              <a:avLst/>
            </a:prstGeom>
          </p:spPr>
          <p:txBody>
            <a:bodyPr anchor="t" rtlCol="false" tIns="0" lIns="0" bIns="0" rIns="0">
              <a:spAutoFit/>
            </a:bodyPr>
            <a:lstStyle/>
            <a:p>
              <a:pPr algn="ctr">
                <a:lnSpc>
                  <a:spcPts val="1940"/>
                </a:lnSpc>
              </a:pPr>
              <a:r>
                <a:rPr lang="en-US" sz="1386">
                  <a:solidFill>
                    <a:srgbClr val="125794"/>
                  </a:solidFill>
                  <a:latin typeface="Noto Serif"/>
                  <a:ea typeface="Noto Serif"/>
                  <a:cs typeface="Noto Serif"/>
                  <a:sym typeface="Noto Serif"/>
                </a:rPr>
                <a:t>Ngữ cảnh</a:t>
              </a:r>
            </a:p>
          </p:txBody>
        </p:sp>
      </p:grpSp>
      <p:grpSp>
        <p:nvGrpSpPr>
          <p:cNvPr name="Group 15" id="15"/>
          <p:cNvGrpSpPr/>
          <p:nvPr/>
        </p:nvGrpSpPr>
        <p:grpSpPr>
          <a:xfrm rot="0">
            <a:off x="15404737" y="2528172"/>
            <a:ext cx="1854563" cy="1181634"/>
            <a:chOff x="0" y="0"/>
            <a:chExt cx="2472751" cy="1575513"/>
          </a:xfrm>
        </p:grpSpPr>
        <p:sp>
          <p:nvSpPr>
            <p:cNvPr name="Freeform 16" id="16"/>
            <p:cNvSpPr/>
            <p:nvPr/>
          </p:nvSpPr>
          <p:spPr>
            <a:xfrm flipH="false" flipV="false" rot="0">
              <a:off x="707949" y="0"/>
              <a:ext cx="1297031" cy="1297031"/>
            </a:xfrm>
            <a:custGeom>
              <a:avLst/>
              <a:gdLst/>
              <a:ahLst/>
              <a:cxnLst/>
              <a:rect r="r" b="b" t="t" l="l"/>
              <a:pathLst>
                <a:path h="1297031" w="1297031">
                  <a:moveTo>
                    <a:pt x="0" y="0"/>
                  </a:moveTo>
                  <a:lnTo>
                    <a:pt x="1297031" y="0"/>
                  </a:lnTo>
                  <a:lnTo>
                    <a:pt x="1297031" y="1297031"/>
                  </a:lnTo>
                  <a:lnTo>
                    <a:pt x="0" y="129703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7" id="17"/>
            <p:cNvSpPr txBox="true"/>
            <p:nvPr/>
          </p:nvSpPr>
          <p:spPr>
            <a:xfrm rot="0">
              <a:off x="0" y="1268456"/>
              <a:ext cx="2472751" cy="307056"/>
            </a:xfrm>
            <a:prstGeom prst="rect">
              <a:avLst/>
            </a:prstGeom>
          </p:spPr>
          <p:txBody>
            <a:bodyPr anchor="t" rtlCol="false" tIns="0" lIns="0" bIns="0" rIns="0">
              <a:spAutoFit/>
            </a:bodyPr>
            <a:lstStyle/>
            <a:p>
              <a:pPr algn="ctr">
                <a:lnSpc>
                  <a:spcPts val="1940"/>
                </a:lnSpc>
              </a:pPr>
              <a:r>
                <a:rPr lang="en-US" sz="1386">
                  <a:solidFill>
                    <a:srgbClr val="125794"/>
                  </a:solidFill>
                  <a:latin typeface="Noto Serif"/>
                  <a:ea typeface="Noto Serif"/>
                  <a:cs typeface="Noto Serif"/>
                  <a:sym typeface="Noto Serif"/>
                </a:rPr>
                <a:t>Câu hỏi tham chiếu</a:t>
              </a:r>
            </a:p>
          </p:txBody>
        </p:sp>
      </p:grpSp>
      <p:sp>
        <p:nvSpPr>
          <p:cNvPr name="TextBox 18" id="18"/>
          <p:cNvSpPr txBox="true"/>
          <p:nvPr/>
        </p:nvSpPr>
        <p:spPr>
          <a:xfrm rot="0">
            <a:off x="12446545" y="600075"/>
            <a:ext cx="5474256" cy="771525"/>
          </a:xfrm>
          <a:prstGeom prst="rect">
            <a:avLst/>
          </a:prstGeom>
        </p:spPr>
        <p:txBody>
          <a:bodyPr anchor="t" rtlCol="false" tIns="0" lIns="0" bIns="0" rIns="0">
            <a:spAutoFit/>
          </a:bodyPr>
          <a:lstStyle/>
          <a:p>
            <a:pPr algn="ctr">
              <a:lnSpc>
                <a:spcPts val="6299"/>
              </a:lnSpc>
            </a:pPr>
            <a:r>
              <a:rPr lang="en-US" sz="4500">
                <a:solidFill>
                  <a:srgbClr val="FFFFFF"/>
                </a:solidFill>
                <a:latin typeface="Yeseva One"/>
                <a:ea typeface="Yeseva One"/>
                <a:cs typeface="Yeseva One"/>
                <a:sym typeface="Yeseva One"/>
              </a:rPr>
              <a:t>01. Giới thiệu</a:t>
            </a:r>
          </a:p>
        </p:txBody>
      </p:sp>
      <p:grpSp>
        <p:nvGrpSpPr>
          <p:cNvPr name="Group 19" id="19"/>
          <p:cNvGrpSpPr/>
          <p:nvPr/>
        </p:nvGrpSpPr>
        <p:grpSpPr>
          <a:xfrm rot="0">
            <a:off x="14479664" y="6776390"/>
            <a:ext cx="2723571" cy="2256951"/>
            <a:chOff x="0" y="0"/>
            <a:chExt cx="3631428" cy="3009267"/>
          </a:xfrm>
        </p:grpSpPr>
        <p:sp>
          <p:nvSpPr>
            <p:cNvPr name="Freeform 20" id="20"/>
            <p:cNvSpPr/>
            <p:nvPr/>
          </p:nvSpPr>
          <p:spPr>
            <a:xfrm flipH="false" flipV="false" rot="0">
              <a:off x="355779" y="1607797"/>
              <a:ext cx="886708" cy="1108385"/>
            </a:xfrm>
            <a:custGeom>
              <a:avLst/>
              <a:gdLst/>
              <a:ahLst/>
              <a:cxnLst/>
              <a:rect r="r" b="b" t="t" l="l"/>
              <a:pathLst>
                <a:path h="1108385" w="886708">
                  <a:moveTo>
                    <a:pt x="0" y="0"/>
                  </a:moveTo>
                  <a:lnTo>
                    <a:pt x="886708" y="0"/>
                  </a:lnTo>
                  <a:lnTo>
                    <a:pt x="886708" y="1108384"/>
                  </a:lnTo>
                  <a:lnTo>
                    <a:pt x="0" y="110838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1" id="21"/>
            <p:cNvSpPr txBox="true"/>
            <p:nvPr/>
          </p:nvSpPr>
          <p:spPr>
            <a:xfrm rot="0">
              <a:off x="0" y="2705301"/>
              <a:ext cx="1598266" cy="303966"/>
            </a:xfrm>
            <a:prstGeom prst="rect">
              <a:avLst/>
            </a:prstGeom>
          </p:spPr>
          <p:txBody>
            <a:bodyPr anchor="t" rtlCol="false" tIns="0" lIns="0" bIns="0" rIns="0">
              <a:spAutoFit/>
            </a:bodyPr>
            <a:lstStyle/>
            <a:p>
              <a:pPr algn="ctr">
                <a:lnSpc>
                  <a:spcPts val="1919"/>
                </a:lnSpc>
              </a:pPr>
              <a:r>
                <a:rPr lang="en-US" sz="1371">
                  <a:solidFill>
                    <a:srgbClr val="125794"/>
                  </a:solidFill>
                  <a:latin typeface="Noto Serif"/>
                  <a:ea typeface="Noto Serif"/>
                  <a:cs typeface="Noto Serif"/>
                  <a:sym typeface="Noto Serif"/>
                </a:rPr>
                <a:t>FairytableQA</a:t>
              </a:r>
            </a:p>
          </p:txBody>
        </p:sp>
        <p:sp>
          <p:nvSpPr>
            <p:cNvPr name="Freeform 22" id="22"/>
            <p:cNvSpPr/>
            <p:nvPr/>
          </p:nvSpPr>
          <p:spPr>
            <a:xfrm flipH="false" flipV="false" rot="0">
              <a:off x="2388941" y="1607797"/>
              <a:ext cx="886708" cy="1108385"/>
            </a:xfrm>
            <a:custGeom>
              <a:avLst/>
              <a:gdLst/>
              <a:ahLst/>
              <a:cxnLst/>
              <a:rect r="r" b="b" t="t" l="l"/>
              <a:pathLst>
                <a:path h="1108385" w="886708">
                  <a:moveTo>
                    <a:pt x="0" y="0"/>
                  </a:moveTo>
                  <a:lnTo>
                    <a:pt x="886708" y="0"/>
                  </a:lnTo>
                  <a:lnTo>
                    <a:pt x="886708" y="1108384"/>
                  </a:lnTo>
                  <a:lnTo>
                    <a:pt x="0" y="110838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3" id="23"/>
            <p:cNvSpPr txBox="true"/>
            <p:nvPr/>
          </p:nvSpPr>
          <p:spPr>
            <a:xfrm rot="0">
              <a:off x="2033162" y="2705301"/>
              <a:ext cx="1598266" cy="303966"/>
            </a:xfrm>
            <a:prstGeom prst="rect">
              <a:avLst/>
            </a:prstGeom>
          </p:spPr>
          <p:txBody>
            <a:bodyPr anchor="t" rtlCol="false" tIns="0" lIns="0" bIns="0" rIns="0">
              <a:spAutoFit/>
            </a:bodyPr>
            <a:lstStyle/>
            <a:p>
              <a:pPr algn="ctr">
                <a:lnSpc>
                  <a:spcPts val="1919"/>
                </a:lnSpc>
              </a:pPr>
              <a:r>
                <a:rPr lang="en-US" sz="1371">
                  <a:solidFill>
                    <a:srgbClr val="125794"/>
                  </a:solidFill>
                  <a:latin typeface="Noto Serif"/>
                  <a:ea typeface="Noto Serif"/>
                  <a:cs typeface="Noto Serif"/>
                  <a:sym typeface="Noto Serif"/>
                </a:rPr>
                <a:t>TellMeWhy</a:t>
              </a:r>
            </a:p>
          </p:txBody>
        </p:sp>
        <p:sp>
          <p:nvSpPr>
            <p:cNvPr name="Freeform 24" id="24"/>
            <p:cNvSpPr/>
            <p:nvPr/>
          </p:nvSpPr>
          <p:spPr>
            <a:xfrm flipH="false" flipV="false" rot="0">
              <a:off x="1331576" y="0"/>
              <a:ext cx="886708" cy="1108385"/>
            </a:xfrm>
            <a:custGeom>
              <a:avLst/>
              <a:gdLst/>
              <a:ahLst/>
              <a:cxnLst/>
              <a:rect r="r" b="b" t="t" l="l"/>
              <a:pathLst>
                <a:path h="1108385" w="886708">
                  <a:moveTo>
                    <a:pt x="0" y="0"/>
                  </a:moveTo>
                  <a:lnTo>
                    <a:pt x="886708" y="0"/>
                  </a:lnTo>
                  <a:lnTo>
                    <a:pt x="886708" y="1108385"/>
                  </a:lnTo>
                  <a:lnTo>
                    <a:pt x="0" y="11083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5" id="25"/>
            <p:cNvSpPr txBox="true"/>
            <p:nvPr/>
          </p:nvSpPr>
          <p:spPr>
            <a:xfrm rot="0">
              <a:off x="975797" y="1097505"/>
              <a:ext cx="1598266" cy="303966"/>
            </a:xfrm>
            <a:prstGeom prst="rect">
              <a:avLst/>
            </a:prstGeom>
          </p:spPr>
          <p:txBody>
            <a:bodyPr anchor="t" rtlCol="false" tIns="0" lIns="0" bIns="0" rIns="0">
              <a:spAutoFit/>
            </a:bodyPr>
            <a:lstStyle/>
            <a:p>
              <a:pPr algn="ctr">
                <a:lnSpc>
                  <a:spcPts val="1919"/>
                </a:lnSpc>
              </a:pPr>
              <a:r>
                <a:rPr lang="en-US" sz="1371">
                  <a:solidFill>
                    <a:srgbClr val="125794"/>
                  </a:solidFill>
                  <a:latin typeface="Noto Serif"/>
                  <a:ea typeface="Noto Serif"/>
                  <a:cs typeface="Noto Serif"/>
                  <a:sym typeface="Noto Serif"/>
                </a:rPr>
                <a:t>SQuAD1.1</a:t>
              </a:r>
            </a:p>
          </p:txBody>
        </p:sp>
      </p:grpSp>
      <p:sp>
        <p:nvSpPr>
          <p:cNvPr name="TextBox 26" id="26"/>
          <p:cNvSpPr txBox="true"/>
          <p:nvPr/>
        </p:nvSpPr>
        <p:spPr>
          <a:xfrm rot="0">
            <a:off x="2179586" y="3487171"/>
            <a:ext cx="11896521" cy="4331970"/>
          </a:xfrm>
          <a:prstGeom prst="rect">
            <a:avLst/>
          </a:prstGeom>
        </p:spPr>
        <p:txBody>
          <a:bodyPr anchor="t" rtlCol="false" tIns="0" lIns="0" bIns="0" rIns="0">
            <a:spAutoFit/>
          </a:bodyPr>
          <a:lstStyle/>
          <a:p>
            <a:pPr algn="l">
              <a:lnSpc>
                <a:spcPts val="5790"/>
              </a:lnSpc>
            </a:pPr>
            <a:r>
              <a:rPr lang="en-US" sz="3000">
                <a:solidFill>
                  <a:srgbClr val="0D0F68"/>
                </a:solidFill>
                <a:latin typeface="Cabin"/>
                <a:ea typeface="Cabin"/>
                <a:cs typeface="Cabin"/>
                <a:sym typeface="Cabin"/>
              </a:rPr>
              <a:t>Nội dung của bài báo:</a:t>
            </a:r>
          </a:p>
          <a:p>
            <a:pPr algn="l" marL="647700" indent="-323850" lvl="1">
              <a:lnSpc>
                <a:spcPts val="5790"/>
              </a:lnSpc>
              <a:buFont typeface="Arial"/>
              <a:buChar char="•"/>
            </a:pPr>
            <a:r>
              <a:rPr lang="en-US" sz="3000">
                <a:solidFill>
                  <a:srgbClr val="0D0F68"/>
                </a:solidFill>
                <a:latin typeface="Cabin"/>
                <a:ea typeface="Cabin"/>
                <a:cs typeface="Cabin"/>
                <a:sym typeface="Cabin"/>
              </a:rPr>
              <a:t>Mở rộng phạm vi của nhiệm vụ tạo ra câu hỏi.</a:t>
            </a:r>
          </a:p>
          <a:p>
            <a:pPr algn="l" marL="647700" indent="-323850" lvl="1">
              <a:lnSpc>
                <a:spcPts val="5790"/>
              </a:lnSpc>
              <a:buFont typeface="Arial"/>
              <a:buChar char="•"/>
            </a:pPr>
            <a:r>
              <a:rPr lang="en-US" sz="3000">
                <a:solidFill>
                  <a:srgbClr val="0D0F68"/>
                </a:solidFill>
                <a:latin typeface="Cabin"/>
                <a:ea typeface="Cabin"/>
                <a:cs typeface="Cabin"/>
                <a:sym typeface="Cabin"/>
              </a:rPr>
              <a:t>Giới thiệu m</a:t>
            </a:r>
            <a:r>
              <a:rPr lang="en-US" sz="3000">
                <a:solidFill>
                  <a:srgbClr val="0D0F68"/>
                </a:solidFill>
                <a:latin typeface="Cabin"/>
                <a:ea typeface="Cabin"/>
                <a:cs typeface="Cabin"/>
                <a:sym typeface="Cabin"/>
              </a:rPr>
              <a:t>ô hình mQG (multi-question generation model) - có khả năng tạo ra một loạt các câu hỏi đa dạng với ngữ nghĩa chính xác.</a:t>
            </a:r>
          </a:p>
          <a:p>
            <a:pPr algn="l" marL="647700" indent="-323850" lvl="1">
              <a:lnSpc>
                <a:spcPts val="5790"/>
              </a:lnSpc>
              <a:buFont typeface="Arial"/>
              <a:buChar char="•"/>
            </a:pPr>
            <a:r>
              <a:rPr lang="en-US" sz="3000">
                <a:solidFill>
                  <a:srgbClr val="0D0F68"/>
                </a:solidFill>
                <a:latin typeface="Cabin"/>
                <a:ea typeface="Cabin"/>
                <a:cs typeface="Cabin"/>
                <a:sym typeface="Cabin"/>
              </a:rPr>
              <a:t>Giới thiệu m</a:t>
            </a:r>
            <a:r>
              <a:rPr lang="en-US" sz="3000">
                <a:solidFill>
                  <a:srgbClr val="0D0F68"/>
                </a:solidFill>
                <a:latin typeface="Cabin"/>
                <a:ea typeface="Cabin"/>
                <a:cs typeface="Cabin"/>
                <a:sym typeface="Cabin"/>
              </a:rPr>
              <a:t>ô hình đánh giá khả năng trả lời câu hỏi, có khả năng phân loại câu hỏi</a:t>
            </a:r>
          </a:p>
        </p:txBody>
      </p:sp>
      <p:sp>
        <p:nvSpPr>
          <p:cNvPr name="TextBox 27" id="27"/>
          <p:cNvSpPr txBox="true"/>
          <p:nvPr/>
        </p:nvSpPr>
        <p:spPr>
          <a:xfrm rot="0">
            <a:off x="10199249" y="9598025"/>
            <a:ext cx="14679282" cy="688975"/>
          </a:xfrm>
          <a:prstGeom prst="rect">
            <a:avLst/>
          </a:prstGeom>
        </p:spPr>
        <p:txBody>
          <a:bodyPr anchor="t" rtlCol="false" tIns="0" lIns="0" bIns="0" rIns="0">
            <a:spAutoFit/>
          </a:bodyPr>
          <a:lstStyle/>
          <a:p>
            <a:pPr algn="ctr">
              <a:lnSpc>
                <a:spcPts val="5599"/>
              </a:lnSpc>
            </a:pPr>
            <a:r>
              <a:rPr lang="en-US" sz="3999">
                <a:solidFill>
                  <a:srgbClr val="0D0F68"/>
                </a:solidFill>
                <a:latin typeface="Yeseva One"/>
                <a:ea typeface="Yeseva One"/>
                <a:cs typeface="Yeseva One"/>
                <a:sym typeface="Yeseva One"/>
              </a:rPr>
              <a:t>03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601846" y="419788"/>
            <a:ext cx="7163655" cy="1217823"/>
            <a:chOff x="0" y="0"/>
            <a:chExt cx="1886724" cy="320744"/>
          </a:xfrm>
        </p:grpSpPr>
        <p:sp>
          <p:nvSpPr>
            <p:cNvPr name="Freeform 4" id="4"/>
            <p:cNvSpPr/>
            <p:nvPr/>
          </p:nvSpPr>
          <p:spPr>
            <a:xfrm flipH="false" flipV="false" rot="0">
              <a:off x="0" y="0"/>
              <a:ext cx="1886724" cy="320744"/>
            </a:xfrm>
            <a:custGeom>
              <a:avLst/>
              <a:gdLst/>
              <a:ahLst/>
              <a:cxnLst/>
              <a:rect r="r" b="b" t="t" l="l"/>
              <a:pathLst>
                <a:path h="320744" w="1886724">
                  <a:moveTo>
                    <a:pt x="55117" y="0"/>
                  </a:moveTo>
                  <a:lnTo>
                    <a:pt x="1831607" y="0"/>
                  </a:lnTo>
                  <a:cubicBezTo>
                    <a:pt x="1862047" y="0"/>
                    <a:pt x="1886724" y="24677"/>
                    <a:pt x="1886724" y="55117"/>
                  </a:cubicBezTo>
                  <a:lnTo>
                    <a:pt x="1886724" y="265627"/>
                  </a:lnTo>
                  <a:cubicBezTo>
                    <a:pt x="1886724" y="280245"/>
                    <a:pt x="1880917" y="294264"/>
                    <a:pt x="1870581" y="304600"/>
                  </a:cubicBezTo>
                  <a:cubicBezTo>
                    <a:pt x="1860244" y="314937"/>
                    <a:pt x="1846225" y="320744"/>
                    <a:pt x="1831607" y="320744"/>
                  </a:cubicBezTo>
                  <a:lnTo>
                    <a:pt x="55117" y="320744"/>
                  </a:lnTo>
                  <a:cubicBezTo>
                    <a:pt x="40499" y="320744"/>
                    <a:pt x="26480" y="314937"/>
                    <a:pt x="16143" y="304600"/>
                  </a:cubicBezTo>
                  <a:cubicBezTo>
                    <a:pt x="5807" y="294264"/>
                    <a:pt x="0" y="280245"/>
                    <a:pt x="0" y="265627"/>
                  </a:cubicBezTo>
                  <a:lnTo>
                    <a:pt x="0" y="55117"/>
                  </a:lnTo>
                  <a:cubicBezTo>
                    <a:pt x="0" y="40499"/>
                    <a:pt x="5807" y="26480"/>
                    <a:pt x="16143" y="16143"/>
                  </a:cubicBezTo>
                  <a:cubicBezTo>
                    <a:pt x="26480" y="5807"/>
                    <a:pt x="40499" y="0"/>
                    <a:pt x="55117" y="0"/>
                  </a:cubicBezTo>
                  <a:close/>
                </a:path>
              </a:pathLst>
            </a:custGeom>
            <a:solidFill>
              <a:srgbClr val="0D0F68"/>
            </a:solidFill>
          </p:spPr>
        </p:sp>
        <p:sp>
          <p:nvSpPr>
            <p:cNvPr name="TextBox 5" id="5"/>
            <p:cNvSpPr txBox="true"/>
            <p:nvPr/>
          </p:nvSpPr>
          <p:spPr>
            <a:xfrm>
              <a:off x="0" y="-38100"/>
              <a:ext cx="1886724" cy="35884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9315239" y="4289820"/>
            <a:ext cx="8605562" cy="5370499"/>
          </a:xfrm>
          <a:custGeom>
            <a:avLst/>
            <a:gdLst/>
            <a:ahLst/>
            <a:cxnLst/>
            <a:rect r="r" b="b" t="t" l="l"/>
            <a:pathLst>
              <a:path h="5370499" w="8605562">
                <a:moveTo>
                  <a:pt x="0" y="0"/>
                </a:moveTo>
                <a:lnTo>
                  <a:pt x="8605562" y="0"/>
                </a:lnTo>
                <a:lnTo>
                  <a:pt x="8605562" y="5370500"/>
                </a:lnTo>
                <a:lnTo>
                  <a:pt x="0" y="5370500"/>
                </a:lnTo>
                <a:lnTo>
                  <a:pt x="0" y="0"/>
                </a:lnTo>
                <a:close/>
              </a:path>
            </a:pathLst>
          </a:custGeom>
          <a:blipFill>
            <a:blip r:embed="rId3"/>
            <a:stretch>
              <a:fillRect l="-3378" t="-9928" r="-3813" b="0"/>
            </a:stretch>
          </a:blipFill>
        </p:spPr>
      </p:sp>
      <p:sp>
        <p:nvSpPr>
          <p:cNvPr name="Freeform 7" id="7"/>
          <p:cNvSpPr/>
          <p:nvPr/>
        </p:nvSpPr>
        <p:spPr>
          <a:xfrm flipH="false" flipV="false" rot="0">
            <a:off x="527998" y="1371600"/>
            <a:ext cx="8365068" cy="4981794"/>
          </a:xfrm>
          <a:custGeom>
            <a:avLst/>
            <a:gdLst/>
            <a:ahLst/>
            <a:cxnLst/>
            <a:rect r="r" b="b" t="t" l="l"/>
            <a:pathLst>
              <a:path h="4981794" w="8365068">
                <a:moveTo>
                  <a:pt x="0" y="0"/>
                </a:moveTo>
                <a:lnTo>
                  <a:pt x="8365068" y="0"/>
                </a:lnTo>
                <a:lnTo>
                  <a:pt x="8365068" y="4981794"/>
                </a:lnTo>
                <a:lnTo>
                  <a:pt x="0" y="4981794"/>
                </a:lnTo>
                <a:lnTo>
                  <a:pt x="0" y="0"/>
                </a:lnTo>
                <a:close/>
              </a:path>
            </a:pathLst>
          </a:custGeom>
          <a:blipFill>
            <a:blip r:embed="rId4"/>
            <a:stretch>
              <a:fillRect l="0" t="0" r="0" b="0"/>
            </a:stretch>
          </a:blipFill>
        </p:spPr>
      </p:sp>
      <p:sp>
        <p:nvSpPr>
          <p:cNvPr name="TextBox 8" id="8"/>
          <p:cNvSpPr txBox="true"/>
          <p:nvPr/>
        </p:nvSpPr>
        <p:spPr>
          <a:xfrm rot="0">
            <a:off x="12446545" y="600075"/>
            <a:ext cx="5474256" cy="771497"/>
          </a:xfrm>
          <a:prstGeom prst="rect">
            <a:avLst/>
          </a:prstGeom>
        </p:spPr>
        <p:txBody>
          <a:bodyPr anchor="t" rtlCol="false" tIns="0" lIns="0" bIns="0" rIns="0">
            <a:spAutoFit/>
          </a:bodyPr>
          <a:lstStyle/>
          <a:p>
            <a:pPr algn="ctr">
              <a:lnSpc>
                <a:spcPts val="6299"/>
              </a:lnSpc>
            </a:pPr>
            <a:r>
              <a:rPr lang="en-US" sz="4500">
                <a:solidFill>
                  <a:srgbClr val="FFFFFF"/>
                </a:solidFill>
                <a:latin typeface="Yeseva One"/>
                <a:ea typeface="Yeseva One"/>
                <a:cs typeface="Yeseva One"/>
                <a:sym typeface="Yeseva One"/>
              </a:rPr>
              <a:t>02. Phương pháp</a:t>
            </a:r>
          </a:p>
        </p:txBody>
      </p:sp>
      <p:grpSp>
        <p:nvGrpSpPr>
          <p:cNvPr name="Group 9" id="9"/>
          <p:cNvGrpSpPr/>
          <p:nvPr/>
        </p:nvGrpSpPr>
        <p:grpSpPr>
          <a:xfrm rot="0">
            <a:off x="9899064" y="2767614"/>
            <a:ext cx="7727920" cy="1149315"/>
            <a:chOff x="0" y="0"/>
            <a:chExt cx="2035337" cy="302700"/>
          </a:xfrm>
        </p:grpSpPr>
        <p:sp>
          <p:nvSpPr>
            <p:cNvPr name="Freeform 10" id="10"/>
            <p:cNvSpPr/>
            <p:nvPr/>
          </p:nvSpPr>
          <p:spPr>
            <a:xfrm flipH="false" flipV="false" rot="0">
              <a:off x="0" y="0"/>
              <a:ext cx="2035337" cy="302700"/>
            </a:xfrm>
            <a:custGeom>
              <a:avLst/>
              <a:gdLst/>
              <a:ahLst/>
              <a:cxnLst/>
              <a:rect r="r" b="b" t="t" l="l"/>
              <a:pathLst>
                <a:path h="302700" w="2035337">
                  <a:moveTo>
                    <a:pt x="51092" y="0"/>
                  </a:moveTo>
                  <a:lnTo>
                    <a:pt x="1984244" y="0"/>
                  </a:lnTo>
                  <a:cubicBezTo>
                    <a:pt x="1997795" y="0"/>
                    <a:pt x="2010790" y="5383"/>
                    <a:pt x="2020372" y="14965"/>
                  </a:cubicBezTo>
                  <a:cubicBezTo>
                    <a:pt x="2029954" y="24546"/>
                    <a:pt x="2035337" y="37542"/>
                    <a:pt x="2035337" y="51092"/>
                  </a:cubicBezTo>
                  <a:lnTo>
                    <a:pt x="2035337" y="251608"/>
                  </a:lnTo>
                  <a:cubicBezTo>
                    <a:pt x="2035337" y="265158"/>
                    <a:pt x="2029954" y="278154"/>
                    <a:pt x="2020372" y="287736"/>
                  </a:cubicBezTo>
                  <a:cubicBezTo>
                    <a:pt x="2010790" y="297317"/>
                    <a:pt x="1997795" y="302700"/>
                    <a:pt x="1984244" y="302700"/>
                  </a:cubicBezTo>
                  <a:lnTo>
                    <a:pt x="51092" y="302700"/>
                  </a:lnTo>
                  <a:cubicBezTo>
                    <a:pt x="37542" y="302700"/>
                    <a:pt x="24546" y="297317"/>
                    <a:pt x="14965" y="287736"/>
                  </a:cubicBezTo>
                  <a:cubicBezTo>
                    <a:pt x="5383" y="278154"/>
                    <a:pt x="0" y="265158"/>
                    <a:pt x="0" y="251608"/>
                  </a:cubicBezTo>
                  <a:lnTo>
                    <a:pt x="0" y="51092"/>
                  </a:lnTo>
                  <a:cubicBezTo>
                    <a:pt x="0" y="37542"/>
                    <a:pt x="5383" y="24546"/>
                    <a:pt x="14965" y="14965"/>
                  </a:cubicBezTo>
                  <a:cubicBezTo>
                    <a:pt x="24546" y="5383"/>
                    <a:pt x="37542" y="0"/>
                    <a:pt x="51092" y="0"/>
                  </a:cubicBezTo>
                  <a:close/>
                </a:path>
              </a:pathLst>
            </a:custGeom>
            <a:solidFill>
              <a:srgbClr val="FBFBFB">
                <a:alpha val="89804"/>
              </a:srgbClr>
            </a:solidFill>
          </p:spPr>
        </p:sp>
        <p:sp>
          <p:nvSpPr>
            <p:cNvPr name="TextBox 11" id="11"/>
            <p:cNvSpPr txBox="true"/>
            <p:nvPr/>
          </p:nvSpPr>
          <p:spPr>
            <a:xfrm>
              <a:off x="0" y="-38100"/>
              <a:ext cx="2035337" cy="340800"/>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0539564" y="2700939"/>
            <a:ext cx="6719736" cy="1215990"/>
          </a:xfrm>
          <a:prstGeom prst="rect">
            <a:avLst/>
          </a:prstGeom>
        </p:spPr>
        <p:txBody>
          <a:bodyPr anchor="t" rtlCol="false" tIns="0" lIns="0" bIns="0" rIns="0">
            <a:spAutoFit/>
          </a:bodyPr>
          <a:lstStyle/>
          <a:p>
            <a:pPr algn="ctr">
              <a:lnSpc>
                <a:spcPts val="4899"/>
              </a:lnSpc>
            </a:pPr>
            <a:r>
              <a:rPr lang="en-US" sz="3499">
                <a:solidFill>
                  <a:srgbClr val="125794"/>
                </a:solidFill>
                <a:latin typeface="Cabin"/>
                <a:ea typeface="Cabin"/>
                <a:cs typeface="Cabin"/>
                <a:sym typeface="Cabin"/>
              </a:rPr>
              <a:t>Hình 2:  mQG sử dụng framework đệ quy để sinh câu hỏi</a:t>
            </a:r>
          </a:p>
        </p:txBody>
      </p:sp>
      <p:grpSp>
        <p:nvGrpSpPr>
          <p:cNvPr name="Group 13" id="13"/>
          <p:cNvGrpSpPr/>
          <p:nvPr/>
        </p:nvGrpSpPr>
        <p:grpSpPr>
          <a:xfrm rot="0">
            <a:off x="846572" y="6975070"/>
            <a:ext cx="7727920" cy="1149315"/>
            <a:chOff x="0" y="0"/>
            <a:chExt cx="2035337" cy="302700"/>
          </a:xfrm>
        </p:grpSpPr>
        <p:sp>
          <p:nvSpPr>
            <p:cNvPr name="Freeform 14" id="14"/>
            <p:cNvSpPr/>
            <p:nvPr/>
          </p:nvSpPr>
          <p:spPr>
            <a:xfrm flipH="false" flipV="false" rot="0">
              <a:off x="0" y="0"/>
              <a:ext cx="2035337" cy="302700"/>
            </a:xfrm>
            <a:custGeom>
              <a:avLst/>
              <a:gdLst/>
              <a:ahLst/>
              <a:cxnLst/>
              <a:rect r="r" b="b" t="t" l="l"/>
              <a:pathLst>
                <a:path h="302700" w="2035337">
                  <a:moveTo>
                    <a:pt x="51092" y="0"/>
                  </a:moveTo>
                  <a:lnTo>
                    <a:pt x="1984244" y="0"/>
                  </a:lnTo>
                  <a:cubicBezTo>
                    <a:pt x="1997795" y="0"/>
                    <a:pt x="2010790" y="5383"/>
                    <a:pt x="2020372" y="14965"/>
                  </a:cubicBezTo>
                  <a:cubicBezTo>
                    <a:pt x="2029954" y="24546"/>
                    <a:pt x="2035337" y="37542"/>
                    <a:pt x="2035337" y="51092"/>
                  </a:cubicBezTo>
                  <a:lnTo>
                    <a:pt x="2035337" y="251608"/>
                  </a:lnTo>
                  <a:cubicBezTo>
                    <a:pt x="2035337" y="265158"/>
                    <a:pt x="2029954" y="278154"/>
                    <a:pt x="2020372" y="287736"/>
                  </a:cubicBezTo>
                  <a:cubicBezTo>
                    <a:pt x="2010790" y="297317"/>
                    <a:pt x="1997795" y="302700"/>
                    <a:pt x="1984244" y="302700"/>
                  </a:cubicBezTo>
                  <a:lnTo>
                    <a:pt x="51092" y="302700"/>
                  </a:lnTo>
                  <a:cubicBezTo>
                    <a:pt x="37542" y="302700"/>
                    <a:pt x="24546" y="297317"/>
                    <a:pt x="14965" y="287736"/>
                  </a:cubicBezTo>
                  <a:cubicBezTo>
                    <a:pt x="5383" y="278154"/>
                    <a:pt x="0" y="265158"/>
                    <a:pt x="0" y="251608"/>
                  </a:cubicBezTo>
                  <a:lnTo>
                    <a:pt x="0" y="51092"/>
                  </a:lnTo>
                  <a:cubicBezTo>
                    <a:pt x="0" y="37542"/>
                    <a:pt x="5383" y="24546"/>
                    <a:pt x="14965" y="14965"/>
                  </a:cubicBezTo>
                  <a:cubicBezTo>
                    <a:pt x="24546" y="5383"/>
                    <a:pt x="37542" y="0"/>
                    <a:pt x="51092" y="0"/>
                  </a:cubicBezTo>
                  <a:close/>
                </a:path>
              </a:pathLst>
            </a:custGeom>
            <a:solidFill>
              <a:srgbClr val="FBFBFB">
                <a:alpha val="89804"/>
              </a:srgbClr>
            </a:solidFill>
          </p:spPr>
        </p:sp>
        <p:sp>
          <p:nvSpPr>
            <p:cNvPr name="TextBox 15" id="15"/>
            <p:cNvSpPr txBox="true"/>
            <p:nvPr/>
          </p:nvSpPr>
          <p:spPr>
            <a:xfrm>
              <a:off x="0" y="-38100"/>
              <a:ext cx="2035337" cy="340800"/>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1632076" y="6908395"/>
            <a:ext cx="6156912" cy="1215990"/>
          </a:xfrm>
          <a:prstGeom prst="rect">
            <a:avLst/>
          </a:prstGeom>
        </p:spPr>
        <p:txBody>
          <a:bodyPr anchor="t" rtlCol="false" tIns="0" lIns="0" bIns="0" rIns="0">
            <a:spAutoFit/>
          </a:bodyPr>
          <a:lstStyle/>
          <a:p>
            <a:pPr algn="ctr">
              <a:lnSpc>
                <a:spcPts val="4899"/>
              </a:lnSpc>
            </a:pPr>
            <a:r>
              <a:rPr lang="en-US" sz="3499">
                <a:solidFill>
                  <a:srgbClr val="125794"/>
                </a:solidFill>
                <a:latin typeface="Cabin"/>
                <a:ea typeface="Cabin"/>
                <a:cs typeface="Cabin"/>
                <a:sym typeface="Cabin"/>
              </a:rPr>
              <a:t>Hình 1: Quá trình huấn luyện mQG</a:t>
            </a:r>
          </a:p>
        </p:txBody>
      </p:sp>
      <p:sp>
        <p:nvSpPr>
          <p:cNvPr name="TextBox 17" id="17"/>
          <p:cNvSpPr txBox="true"/>
          <p:nvPr/>
        </p:nvSpPr>
        <p:spPr>
          <a:xfrm rot="0">
            <a:off x="10287343" y="9574595"/>
            <a:ext cx="14679282" cy="688975"/>
          </a:xfrm>
          <a:prstGeom prst="rect">
            <a:avLst/>
          </a:prstGeom>
        </p:spPr>
        <p:txBody>
          <a:bodyPr anchor="t" rtlCol="false" tIns="0" lIns="0" bIns="0" rIns="0">
            <a:spAutoFit/>
          </a:bodyPr>
          <a:lstStyle/>
          <a:p>
            <a:pPr algn="ctr">
              <a:lnSpc>
                <a:spcPts val="5599"/>
              </a:lnSpc>
            </a:pPr>
            <a:r>
              <a:rPr lang="en-US" sz="3999">
                <a:solidFill>
                  <a:srgbClr val="0D0F68"/>
                </a:solidFill>
                <a:latin typeface="Yeseva One"/>
                <a:ea typeface="Yeseva One"/>
                <a:cs typeface="Yeseva One"/>
                <a:sym typeface="Yeseva One"/>
              </a:rPr>
              <a:t>04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1028700"/>
            <a:ext cx="16230600" cy="8229600"/>
            <a:chOff x="0" y="0"/>
            <a:chExt cx="4274726" cy="2167467"/>
          </a:xfrm>
        </p:grpSpPr>
        <p:sp>
          <p:nvSpPr>
            <p:cNvPr name="Freeform 4" id="4"/>
            <p:cNvSpPr/>
            <p:nvPr/>
          </p:nvSpPr>
          <p:spPr>
            <a:xfrm flipH="false" flipV="false" rot="0">
              <a:off x="0" y="0"/>
              <a:ext cx="4274726" cy="2167467"/>
            </a:xfrm>
            <a:custGeom>
              <a:avLst/>
              <a:gdLst/>
              <a:ahLst/>
              <a:cxnLst/>
              <a:rect r="r" b="b" t="t" l="l"/>
              <a:pathLst>
                <a:path h="2167467" w="4274726">
                  <a:moveTo>
                    <a:pt x="24327" y="0"/>
                  </a:moveTo>
                  <a:lnTo>
                    <a:pt x="4250399" y="0"/>
                  </a:lnTo>
                  <a:cubicBezTo>
                    <a:pt x="4263834" y="0"/>
                    <a:pt x="4274726" y="10891"/>
                    <a:pt x="4274726" y="24327"/>
                  </a:cubicBezTo>
                  <a:lnTo>
                    <a:pt x="4274726" y="2143140"/>
                  </a:lnTo>
                  <a:cubicBezTo>
                    <a:pt x="4274726" y="2156575"/>
                    <a:pt x="4263834" y="2167467"/>
                    <a:pt x="4250399" y="2167467"/>
                  </a:cubicBezTo>
                  <a:lnTo>
                    <a:pt x="24327" y="2167467"/>
                  </a:lnTo>
                  <a:cubicBezTo>
                    <a:pt x="10891" y="2167467"/>
                    <a:pt x="0" y="2156575"/>
                    <a:pt x="0" y="2143140"/>
                  </a:cubicBezTo>
                  <a:lnTo>
                    <a:pt x="0" y="24327"/>
                  </a:lnTo>
                  <a:cubicBezTo>
                    <a:pt x="0" y="10891"/>
                    <a:pt x="10891" y="0"/>
                    <a:pt x="24327" y="0"/>
                  </a:cubicBezTo>
                  <a:close/>
                </a:path>
              </a:pathLst>
            </a:custGeom>
            <a:solidFill>
              <a:srgbClr val="FBFBFB">
                <a:alpha val="89804"/>
              </a:srgbClr>
            </a:solidFill>
          </p:spPr>
        </p:sp>
        <p:sp>
          <p:nvSpPr>
            <p:cNvPr name="TextBox 5" id="5"/>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601846" y="419788"/>
            <a:ext cx="7163655" cy="1217823"/>
            <a:chOff x="0" y="0"/>
            <a:chExt cx="1886724" cy="320744"/>
          </a:xfrm>
        </p:grpSpPr>
        <p:sp>
          <p:nvSpPr>
            <p:cNvPr name="Freeform 7" id="7"/>
            <p:cNvSpPr/>
            <p:nvPr/>
          </p:nvSpPr>
          <p:spPr>
            <a:xfrm flipH="false" flipV="false" rot="0">
              <a:off x="0" y="0"/>
              <a:ext cx="1886724" cy="320744"/>
            </a:xfrm>
            <a:custGeom>
              <a:avLst/>
              <a:gdLst/>
              <a:ahLst/>
              <a:cxnLst/>
              <a:rect r="r" b="b" t="t" l="l"/>
              <a:pathLst>
                <a:path h="320744" w="1886724">
                  <a:moveTo>
                    <a:pt x="55117" y="0"/>
                  </a:moveTo>
                  <a:lnTo>
                    <a:pt x="1831607" y="0"/>
                  </a:lnTo>
                  <a:cubicBezTo>
                    <a:pt x="1862047" y="0"/>
                    <a:pt x="1886724" y="24677"/>
                    <a:pt x="1886724" y="55117"/>
                  </a:cubicBezTo>
                  <a:lnTo>
                    <a:pt x="1886724" y="265627"/>
                  </a:lnTo>
                  <a:cubicBezTo>
                    <a:pt x="1886724" y="280245"/>
                    <a:pt x="1880917" y="294264"/>
                    <a:pt x="1870581" y="304600"/>
                  </a:cubicBezTo>
                  <a:cubicBezTo>
                    <a:pt x="1860244" y="314937"/>
                    <a:pt x="1846225" y="320744"/>
                    <a:pt x="1831607" y="320744"/>
                  </a:cubicBezTo>
                  <a:lnTo>
                    <a:pt x="55117" y="320744"/>
                  </a:lnTo>
                  <a:cubicBezTo>
                    <a:pt x="40499" y="320744"/>
                    <a:pt x="26480" y="314937"/>
                    <a:pt x="16143" y="304600"/>
                  </a:cubicBezTo>
                  <a:cubicBezTo>
                    <a:pt x="5807" y="294264"/>
                    <a:pt x="0" y="280245"/>
                    <a:pt x="0" y="265627"/>
                  </a:cubicBezTo>
                  <a:lnTo>
                    <a:pt x="0" y="55117"/>
                  </a:lnTo>
                  <a:cubicBezTo>
                    <a:pt x="0" y="40499"/>
                    <a:pt x="5807" y="26480"/>
                    <a:pt x="16143" y="16143"/>
                  </a:cubicBezTo>
                  <a:cubicBezTo>
                    <a:pt x="26480" y="5807"/>
                    <a:pt x="40499" y="0"/>
                    <a:pt x="55117" y="0"/>
                  </a:cubicBezTo>
                  <a:close/>
                </a:path>
              </a:pathLst>
            </a:custGeom>
            <a:solidFill>
              <a:srgbClr val="0D0F68"/>
            </a:solidFill>
          </p:spPr>
        </p:sp>
        <p:sp>
          <p:nvSpPr>
            <p:cNvPr name="TextBox 8" id="8"/>
            <p:cNvSpPr txBox="true"/>
            <p:nvPr/>
          </p:nvSpPr>
          <p:spPr>
            <a:xfrm>
              <a:off x="0" y="-38100"/>
              <a:ext cx="1886724" cy="358844"/>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4653517" y="2530421"/>
            <a:ext cx="1307962" cy="1140635"/>
            <a:chOff x="0" y="0"/>
            <a:chExt cx="1743950" cy="1520847"/>
          </a:xfrm>
        </p:grpSpPr>
        <p:sp>
          <p:nvSpPr>
            <p:cNvPr name="Freeform 10" id="10"/>
            <p:cNvSpPr/>
            <p:nvPr/>
          </p:nvSpPr>
          <p:spPr>
            <a:xfrm flipH="false" flipV="false" rot="0">
              <a:off x="388209" y="0"/>
              <a:ext cx="967532" cy="1209415"/>
            </a:xfrm>
            <a:custGeom>
              <a:avLst/>
              <a:gdLst/>
              <a:ahLst/>
              <a:cxnLst/>
              <a:rect r="r" b="b" t="t" l="l"/>
              <a:pathLst>
                <a:path h="1209415" w="967532">
                  <a:moveTo>
                    <a:pt x="0" y="0"/>
                  </a:moveTo>
                  <a:lnTo>
                    <a:pt x="967532" y="0"/>
                  </a:lnTo>
                  <a:lnTo>
                    <a:pt x="967532" y="1209415"/>
                  </a:lnTo>
                  <a:lnTo>
                    <a:pt x="0" y="120941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0" y="1200148"/>
              <a:ext cx="1743950" cy="320699"/>
            </a:xfrm>
            <a:prstGeom prst="rect">
              <a:avLst/>
            </a:prstGeom>
          </p:spPr>
          <p:txBody>
            <a:bodyPr anchor="t" rtlCol="false" tIns="0" lIns="0" bIns="0" rIns="0">
              <a:spAutoFit/>
            </a:bodyPr>
            <a:lstStyle/>
            <a:p>
              <a:pPr algn="ctr">
                <a:lnSpc>
                  <a:spcPts val="2094"/>
                </a:lnSpc>
              </a:pPr>
              <a:r>
                <a:rPr lang="en-US" sz="1495">
                  <a:solidFill>
                    <a:srgbClr val="125794"/>
                  </a:solidFill>
                  <a:latin typeface="Noto Serif Bold"/>
                  <a:ea typeface="Noto Serif Bold"/>
                  <a:cs typeface="Noto Serif Bold"/>
                  <a:sym typeface="Noto Serif Bold"/>
                </a:rPr>
                <a:t>TellMeWhy</a:t>
              </a:r>
            </a:p>
          </p:txBody>
        </p:sp>
      </p:grpSp>
      <p:grpSp>
        <p:nvGrpSpPr>
          <p:cNvPr name="Group 12" id="12"/>
          <p:cNvGrpSpPr/>
          <p:nvPr/>
        </p:nvGrpSpPr>
        <p:grpSpPr>
          <a:xfrm rot="0">
            <a:off x="16303503" y="2530421"/>
            <a:ext cx="1278427" cy="1119852"/>
            <a:chOff x="0" y="0"/>
            <a:chExt cx="1704569" cy="1493136"/>
          </a:xfrm>
        </p:grpSpPr>
        <p:sp>
          <p:nvSpPr>
            <p:cNvPr name="Freeform 13" id="13"/>
            <p:cNvSpPr/>
            <p:nvPr/>
          </p:nvSpPr>
          <p:spPr>
            <a:xfrm flipH="false" flipV="false" rot="0">
              <a:off x="379443" y="0"/>
              <a:ext cx="945684" cy="1182105"/>
            </a:xfrm>
            <a:custGeom>
              <a:avLst/>
              <a:gdLst/>
              <a:ahLst/>
              <a:cxnLst/>
              <a:rect r="r" b="b" t="t" l="l"/>
              <a:pathLst>
                <a:path h="1182105" w="945684">
                  <a:moveTo>
                    <a:pt x="0" y="0"/>
                  </a:moveTo>
                  <a:lnTo>
                    <a:pt x="945684" y="0"/>
                  </a:lnTo>
                  <a:lnTo>
                    <a:pt x="945684" y="1182105"/>
                  </a:lnTo>
                  <a:lnTo>
                    <a:pt x="0" y="11821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0" y="1172402"/>
              <a:ext cx="1704569" cy="320734"/>
            </a:xfrm>
            <a:prstGeom prst="rect">
              <a:avLst/>
            </a:prstGeom>
          </p:spPr>
          <p:txBody>
            <a:bodyPr anchor="t" rtlCol="false" tIns="0" lIns="0" bIns="0" rIns="0">
              <a:spAutoFit/>
            </a:bodyPr>
            <a:lstStyle/>
            <a:p>
              <a:pPr algn="ctr">
                <a:lnSpc>
                  <a:spcPts val="2047"/>
                </a:lnSpc>
              </a:pPr>
              <a:r>
                <a:rPr lang="en-US" sz="1462">
                  <a:solidFill>
                    <a:srgbClr val="125794"/>
                  </a:solidFill>
                  <a:latin typeface="Noto Serif Bold"/>
                  <a:ea typeface="Noto Serif Bold"/>
                  <a:cs typeface="Noto Serif Bold"/>
                  <a:sym typeface="Noto Serif Bold"/>
                </a:rPr>
                <a:t>SQuAD1.1</a:t>
              </a:r>
            </a:p>
          </p:txBody>
        </p:sp>
      </p:grpSp>
      <p:sp>
        <p:nvSpPr>
          <p:cNvPr name="Freeform 15" id="15"/>
          <p:cNvSpPr/>
          <p:nvPr/>
        </p:nvSpPr>
        <p:spPr>
          <a:xfrm flipH="false" flipV="false" rot="0">
            <a:off x="12820872" y="3984723"/>
            <a:ext cx="4761057" cy="5741275"/>
          </a:xfrm>
          <a:custGeom>
            <a:avLst/>
            <a:gdLst/>
            <a:ahLst/>
            <a:cxnLst/>
            <a:rect r="r" b="b" t="t" l="l"/>
            <a:pathLst>
              <a:path h="5741275" w="4761057">
                <a:moveTo>
                  <a:pt x="0" y="0"/>
                </a:moveTo>
                <a:lnTo>
                  <a:pt x="4761057" y="0"/>
                </a:lnTo>
                <a:lnTo>
                  <a:pt x="4761057" y="5741274"/>
                </a:lnTo>
                <a:lnTo>
                  <a:pt x="0" y="5741274"/>
                </a:lnTo>
                <a:lnTo>
                  <a:pt x="0" y="0"/>
                </a:lnTo>
                <a:close/>
              </a:path>
            </a:pathLst>
          </a:custGeom>
          <a:blipFill>
            <a:blip r:embed="rId5"/>
            <a:stretch>
              <a:fillRect l="0" t="0" r="0" b="0"/>
            </a:stretch>
          </a:blipFill>
        </p:spPr>
      </p:sp>
      <p:sp>
        <p:nvSpPr>
          <p:cNvPr name="TextBox 16" id="16"/>
          <p:cNvSpPr txBox="true"/>
          <p:nvPr/>
        </p:nvSpPr>
        <p:spPr>
          <a:xfrm rot="0">
            <a:off x="12446545" y="600075"/>
            <a:ext cx="5474256" cy="771497"/>
          </a:xfrm>
          <a:prstGeom prst="rect">
            <a:avLst/>
          </a:prstGeom>
        </p:spPr>
        <p:txBody>
          <a:bodyPr anchor="t" rtlCol="false" tIns="0" lIns="0" bIns="0" rIns="0">
            <a:spAutoFit/>
          </a:bodyPr>
          <a:lstStyle/>
          <a:p>
            <a:pPr algn="ctr">
              <a:lnSpc>
                <a:spcPts val="6299"/>
              </a:lnSpc>
            </a:pPr>
            <a:r>
              <a:rPr lang="en-US" sz="4500">
                <a:solidFill>
                  <a:srgbClr val="FFFFFF"/>
                </a:solidFill>
                <a:latin typeface="Yeseva One"/>
                <a:ea typeface="Yeseva One"/>
                <a:cs typeface="Yeseva One"/>
                <a:sym typeface="Yeseva One"/>
              </a:rPr>
              <a:t>03. Thực nghiệm</a:t>
            </a:r>
          </a:p>
        </p:txBody>
      </p:sp>
      <p:sp>
        <p:nvSpPr>
          <p:cNvPr name="TextBox 17" id="17"/>
          <p:cNvSpPr txBox="true"/>
          <p:nvPr/>
        </p:nvSpPr>
        <p:spPr>
          <a:xfrm rot="0">
            <a:off x="1384673" y="2107136"/>
            <a:ext cx="4750470" cy="679405"/>
          </a:xfrm>
          <a:prstGeom prst="rect">
            <a:avLst/>
          </a:prstGeom>
        </p:spPr>
        <p:txBody>
          <a:bodyPr anchor="t" rtlCol="false" tIns="0" lIns="0" bIns="0" rIns="0">
            <a:spAutoFit/>
          </a:bodyPr>
          <a:lstStyle/>
          <a:p>
            <a:pPr algn="ctr">
              <a:lnSpc>
                <a:spcPts val="5599"/>
              </a:lnSpc>
              <a:spcBef>
                <a:spcPct val="0"/>
              </a:spcBef>
            </a:pPr>
            <a:r>
              <a:rPr lang="en-US" sz="3999">
                <a:solidFill>
                  <a:srgbClr val="000000"/>
                </a:solidFill>
                <a:latin typeface="Noto Serif Bold"/>
                <a:ea typeface="Noto Serif Bold"/>
                <a:cs typeface="Noto Serif Bold"/>
                <a:sym typeface="Noto Serif Bold"/>
              </a:rPr>
              <a:t>Tập dữ liệu</a:t>
            </a:r>
          </a:p>
        </p:txBody>
      </p:sp>
      <p:sp>
        <p:nvSpPr>
          <p:cNvPr name="TextBox 18" id="18"/>
          <p:cNvSpPr txBox="true"/>
          <p:nvPr/>
        </p:nvSpPr>
        <p:spPr>
          <a:xfrm rot="0">
            <a:off x="2293584" y="3352534"/>
            <a:ext cx="8734084" cy="5324475"/>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000000"/>
                </a:solidFill>
                <a:latin typeface="Cabin"/>
                <a:ea typeface="Cabin"/>
                <a:cs typeface="Cabin"/>
                <a:sym typeface="Cabin"/>
              </a:rPr>
              <a:t>Tập dữ liệu huấn luyện </a:t>
            </a:r>
            <a:r>
              <a:rPr lang="en-US" sz="3000">
                <a:solidFill>
                  <a:srgbClr val="000000"/>
                </a:solidFill>
                <a:latin typeface="Cabin Bold"/>
                <a:ea typeface="Cabin Bold"/>
                <a:cs typeface="Cabin Bold"/>
                <a:sym typeface="Cabin Bold"/>
              </a:rPr>
              <a:t>FairytaleQA</a:t>
            </a:r>
            <a:r>
              <a:rPr lang="en-US" sz="3000">
                <a:solidFill>
                  <a:srgbClr val="000000"/>
                </a:solidFill>
                <a:latin typeface="Cabin"/>
                <a:ea typeface="Cabin"/>
                <a:cs typeface="Cabin"/>
                <a:sym typeface="Cabin"/>
              </a:rPr>
              <a:t>  </a:t>
            </a:r>
          </a:p>
          <a:p>
            <a:pPr algn="just">
              <a:lnSpc>
                <a:spcPts val="4200"/>
              </a:lnSpc>
            </a:pPr>
            <a:r>
              <a:rPr lang="en-US" sz="3000">
                <a:solidFill>
                  <a:srgbClr val="000000"/>
                </a:solidFill>
                <a:latin typeface="Cabin"/>
                <a:ea typeface="Cabin"/>
                <a:cs typeface="Cabin"/>
                <a:sym typeface="Cabin"/>
              </a:rPr>
              <a:t>Gồm các cặp câu QA liên quan đến nội dung sách truyện, với 7 loại câu hỏi, và được gán nhãn là câu hỏi rõ ràng, ngụ ý hoặc không thể trả lời.</a:t>
            </a:r>
          </a:p>
          <a:p>
            <a:pPr algn="just">
              <a:lnSpc>
                <a:spcPts val="4200"/>
              </a:lnSpc>
            </a:pPr>
            <a:r>
              <a:rPr lang="en-US" sz="3000">
                <a:solidFill>
                  <a:srgbClr val="000000"/>
                </a:solidFill>
                <a:latin typeface="Cabin"/>
                <a:ea typeface="Cabin"/>
                <a:cs typeface="Cabin"/>
                <a:sym typeface="Cabin"/>
              </a:rPr>
              <a:t>Sau khi xử lý, tập dữ liệu còn 9595 cặp QA</a:t>
            </a:r>
          </a:p>
          <a:p>
            <a:pPr algn="just">
              <a:lnSpc>
                <a:spcPts val="4200"/>
              </a:lnSpc>
            </a:pPr>
          </a:p>
          <a:p>
            <a:pPr algn="just" marL="647700" indent="-323850" lvl="1">
              <a:lnSpc>
                <a:spcPts val="4200"/>
              </a:lnSpc>
              <a:buFont typeface="Arial"/>
              <a:buChar char="•"/>
            </a:pPr>
            <a:r>
              <a:rPr lang="en-US" sz="3000">
                <a:solidFill>
                  <a:srgbClr val="000000"/>
                </a:solidFill>
                <a:latin typeface="Cabin"/>
                <a:ea typeface="Cabin"/>
                <a:cs typeface="Cabin"/>
                <a:sym typeface="Cabin"/>
              </a:rPr>
              <a:t>Tập dữ liệu dùng cho đánh giá Zero-shot</a:t>
            </a:r>
          </a:p>
          <a:p>
            <a:pPr algn="just">
              <a:lnSpc>
                <a:spcPts val="4200"/>
              </a:lnSpc>
            </a:pPr>
            <a:r>
              <a:rPr lang="en-US" sz="3000">
                <a:solidFill>
                  <a:srgbClr val="000000"/>
                </a:solidFill>
                <a:latin typeface="Cabin"/>
                <a:ea typeface="Cabin"/>
                <a:cs typeface="Cabin"/>
                <a:sym typeface="Cabin"/>
              </a:rPr>
              <a:t>+ </a:t>
            </a:r>
            <a:r>
              <a:rPr lang="en-US" sz="3000">
                <a:solidFill>
                  <a:srgbClr val="000000"/>
                </a:solidFill>
                <a:latin typeface="Cabin Bold"/>
                <a:ea typeface="Cabin Bold"/>
                <a:cs typeface="Cabin Bold"/>
                <a:sym typeface="Cabin Bold"/>
              </a:rPr>
              <a:t>TellMeWhy</a:t>
            </a:r>
            <a:r>
              <a:rPr lang="en-US" sz="3000">
                <a:solidFill>
                  <a:srgbClr val="000000"/>
                </a:solidFill>
                <a:latin typeface="Cabin"/>
                <a:ea typeface="Cabin"/>
                <a:cs typeface="Cabin"/>
                <a:sym typeface="Cabin"/>
              </a:rPr>
              <a:t>: </a:t>
            </a:r>
            <a:r>
              <a:rPr lang="en-US" sz="3000">
                <a:solidFill>
                  <a:srgbClr val="000000"/>
                </a:solidFill>
                <a:latin typeface="Cabin Bold"/>
                <a:ea typeface="Cabin Bold"/>
                <a:cs typeface="Cabin Bold"/>
                <a:sym typeface="Cabin Bold"/>
              </a:rPr>
              <a:t>tương tự</a:t>
            </a:r>
            <a:r>
              <a:rPr lang="en-US" sz="3000">
                <a:solidFill>
                  <a:srgbClr val="000000"/>
                </a:solidFill>
                <a:latin typeface="Cabin"/>
                <a:ea typeface="Cabin"/>
                <a:cs typeface="Cabin"/>
                <a:sym typeface="Cabin"/>
              </a:rPr>
              <a:t> với tập FairytaleQA </a:t>
            </a:r>
          </a:p>
          <a:p>
            <a:pPr algn="just">
              <a:lnSpc>
                <a:spcPts val="4200"/>
              </a:lnSpc>
              <a:spcBef>
                <a:spcPct val="0"/>
              </a:spcBef>
            </a:pPr>
            <a:r>
              <a:rPr lang="en-US" sz="3000">
                <a:solidFill>
                  <a:srgbClr val="000000"/>
                </a:solidFill>
                <a:latin typeface="Cabin"/>
                <a:ea typeface="Cabin"/>
                <a:cs typeface="Cabin"/>
                <a:sym typeface="Cabin"/>
              </a:rPr>
              <a:t>+ </a:t>
            </a:r>
            <a:r>
              <a:rPr lang="en-US" sz="3000">
                <a:solidFill>
                  <a:srgbClr val="000000"/>
                </a:solidFill>
                <a:latin typeface="Cabin Bold"/>
                <a:ea typeface="Cabin Bold"/>
                <a:cs typeface="Cabin Bold"/>
                <a:sym typeface="Cabin Bold"/>
              </a:rPr>
              <a:t>SQuAD1.1</a:t>
            </a:r>
            <a:r>
              <a:rPr lang="en-US" sz="3000">
                <a:solidFill>
                  <a:srgbClr val="000000"/>
                </a:solidFill>
                <a:latin typeface="Cabin"/>
                <a:ea typeface="Cabin"/>
                <a:cs typeface="Cabin"/>
                <a:sym typeface="Cabin"/>
              </a:rPr>
              <a:t>: </a:t>
            </a:r>
            <a:r>
              <a:rPr lang="en-US" sz="3000">
                <a:solidFill>
                  <a:srgbClr val="000000"/>
                </a:solidFill>
                <a:latin typeface="Cabin Bold"/>
                <a:ea typeface="Cabin Bold"/>
                <a:cs typeface="Cabin Bold"/>
                <a:sym typeface="Cabin Bold"/>
              </a:rPr>
              <a:t>khác</a:t>
            </a:r>
            <a:r>
              <a:rPr lang="en-US" sz="3000">
                <a:solidFill>
                  <a:srgbClr val="000000"/>
                </a:solidFill>
                <a:latin typeface="Cabin"/>
                <a:ea typeface="Cabin"/>
                <a:cs typeface="Cabin"/>
                <a:sym typeface="Cabin"/>
              </a:rPr>
              <a:t> miền kiến thức với tập FairytaleQA và chỉ có câu hỏi rõ ràng</a:t>
            </a:r>
          </a:p>
        </p:txBody>
      </p:sp>
      <p:grpSp>
        <p:nvGrpSpPr>
          <p:cNvPr name="Group 19" id="19"/>
          <p:cNvGrpSpPr/>
          <p:nvPr/>
        </p:nvGrpSpPr>
        <p:grpSpPr>
          <a:xfrm rot="0">
            <a:off x="12999344" y="2530421"/>
            <a:ext cx="1330323" cy="1166487"/>
            <a:chOff x="0" y="0"/>
            <a:chExt cx="1773764" cy="1555316"/>
          </a:xfrm>
        </p:grpSpPr>
        <p:sp>
          <p:nvSpPr>
            <p:cNvPr name="Freeform 20" id="20"/>
            <p:cNvSpPr/>
            <p:nvPr/>
          </p:nvSpPr>
          <p:spPr>
            <a:xfrm flipH="false" flipV="false" rot="0">
              <a:off x="394846" y="0"/>
              <a:ext cx="984073" cy="1230091"/>
            </a:xfrm>
            <a:custGeom>
              <a:avLst/>
              <a:gdLst/>
              <a:ahLst/>
              <a:cxnLst/>
              <a:rect r="r" b="b" t="t" l="l"/>
              <a:pathLst>
                <a:path h="1230091" w="984073">
                  <a:moveTo>
                    <a:pt x="0" y="0"/>
                  </a:moveTo>
                  <a:lnTo>
                    <a:pt x="984073" y="0"/>
                  </a:lnTo>
                  <a:lnTo>
                    <a:pt x="984073" y="1230091"/>
                  </a:lnTo>
                  <a:lnTo>
                    <a:pt x="0" y="12300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1" id="21"/>
            <p:cNvSpPr txBox="true"/>
            <p:nvPr/>
          </p:nvSpPr>
          <p:spPr>
            <a:xfrm rot="0">
              <a:off x="0" y="1221154"/>
              <a:ext cx="1773764" cy="334162"/>
            </a:xfrm>
            <a:prstGeom prst="rect">
              <a:avLst/>
            </a:prstGeom>
          </p:spPr>
          <p:txBody>
            <a:bodyPr anchor="t" rtlCol="false" tIns="0" lIns="0" bIns="0" rIns="0">
              <a:spAutoFit/>
            </a:bodyPr>
            <a:lstStyle/>
            <a:p>
              <a:pPr algn="ctr">
                <a:lnSpc>
                  <a:spcPts val="2130"/>
                </a:lnSpc>
              </a:pPr>
              <a:r>
                <a:rPr lang="en-US" sz="1521">
                  <a:solidFill>
                    <a:srgbClr val="125794"/>
                  </a:solidFill>
                  <a:latin typeface="Noto Serif Bold"/>
                  <a:ea typeface="Noto Serif Bold"/>
                  <a:cs typeface="Noto Serif Bold"/>
                  <a:sym typeface="Noto Serif Bold"/>
                </a:rPr>
                <a:t>FairytaleQA</a:t>
              </a:r>
              <a:r>
                <a:rPr lang="en-US" sz="1521">
                  <a:solidFill>
                    <a:srgbClr val="125794"/>
                  </a:solidFill>
                  <a:latin typeface="Noto Serif"/>
                  <a:ea typeface="Noto Serif"/>
                  <a:cs typeface="Noto Serif"/>
                  <a:sym typeface="Noto Serif"/>
                </a:rPr>
                <a:t> </a:t>
              </a:r>
            </a:p>
          </p:txBody>
        </p:sp>
      </p:grpSp>
      <p:sp>
        <p:nvSpPr>
          <p:cNvPr name="TextBox 22" id="22"/>
          <p:cNvSpPr txBox="true"/>
          <p:nvPr/>
        </p:nvSpPr>
        <p:spPr>
          <a:xfrm rot="0">
            <a:off x="10242288" y="9598025"/>
            <a:ext cx="14679282" cy="688975"/>
          </a:xfrm>
          <a:prstGeom prst="rect">
            <a:avLst/>
          </a:prstGeom>
        </p:spPr>
        <p:txBody>
          <a:bodyPr anchor="t" rtlCol="false" tIns="0" lIns="0" bIns="0" rIns="0">
            <a:spAutoFit/>
          </a:bodyPr>
          <a:lstStyle/>
          <a:p>
            <a:pPr algn="ctr">
              <a:lnSpc>
                <a:spcPts val="5599"/>
              </a:lnSpc>
            </a:pPr>
            <a:r>
              <a:rPr lang="en-US" sz="3999">
                <a:solidFill>
                  <a:srgbClr val="0D0F68"/>
                </a:solidFill>
                <a:latin typeface="Yeseva One"/>
                <a:ea typeface="Yeseva One"/>
                <a:cs typeface="Yeseva One"/>
                <a:sym typeface="Yeseva One"/>
              </a:rPr>
              <a:t>05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1028700"/>
            <a:ext cx="16230600" cy="8229600"/>
            <a:chOff x="0" y="0"/>
            <a:chExt cx="4274726" cy="2167467"/>
          </a:xfrm>
        </p:grpSpPr>
        <p:sp>
          <p:nvSpPr>
            <p:cNvPr name="Freeform 4" id="4"/>
            <p:cNvSpPr/>
            <p:nvPr/>
          </p:nvSpPr>
          <p:spPr>
            <a:xfrm flipH="false" flipV="false" rot="0">
              <a:off x="0" y="0"/>
              <a:ext cx="4274726" cy="2167467"/>
            </a:xfrm>
            <a:custGeom>
              <a:avLst/>
              <a:gdLst/>
              <a:ahLst/>
              <a:cxnLst/>
              <a:rect r="r" b="b" t="t" l="l"/>
              <a:pathLst>
                <a:path h="2167467" w="4274726">
                  <a:moveTo>
                    <a:pt x="24327" y="0"/>
                  </a:moveTo>
                  <a:lnTo>
                    <a:pt x="4250399" y="0"/>
                  </a:lnTo>
                  <a:cubicBezTo>
                    <a:pt x="4263834" y="0"/>
                    <a:pt x="4274726" y="10891"/>
                    <a:pt x="4274726" y="24327"/>
                  </a:cubicBezTo>
                  <a:lnTo>
                    <a:pt x="4274726" y="2143140"/>
                  </a:lnTo>
                  <a:cubicBezTo>
                    <a:pt x="4274726" y="2156575"/>
                    <a:pt x="4263834" y="2167467"/>
                    <a:pt x="4250399" y="2167467"/>
                  </a:cubicBezTo>
                  <a:lnTo>
                    <a:pt x="24327" y="2167467"/>
                  </a:lnTo>
                  <a:cubicBezTo>
                    <a:pt x="10891" y="2167467"/>
                    <a:pt x="0" y="2156575"/>
                    <a:pt x="0" y="2143140"/>
                  </a:cubicBezTo>
                  <a:lnTo>
                    <a:pt x="0" y="24327"/>
                  </a:lnTo>
                  <a:cubicBezTo>
                    <a:pt x="0" y="10891"/>
                    <a:pt x="10891" y="0"/>
                    <a:pt x="24327" y="0"/>
                  </a:cubicBezTo>
                  <a:close/>
                </a:path>
              </a:pathLst>
            </a:custGeom>
            <a:solidFill>
              <a:srgbClr val="FBFBFB">
                <a:alpha val="89804"/>
              </a:srgbClr>
            </a:solidFill>
          </p:spPr>
        </p:sp>
        <p:sp>
          <p:nvSpPr>
            <p:cNvPr name="TextBox 5" id="5"/>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601846" y="419788"/>
            <a:ext cx="7163655" cy="1217823"/>
            <a:chOff x="0" y="0"/>
            <a:chExt cx="1886724" cy="320744"/>
          </a:xfrm>
        </p:grpSpPr>
        <p:sp>
          <p:nvSpPr>
            <p:cNvPr name="Freeform 7" id="7"/>
            <p:cNvSpPr/>
            <p:nvPr/>
          </p:nvSpPr>
          <p:spPr>
            <a:xfrm flipH="false" flipV="false" rot="0">
              <a:off x="0" y="0"/>
              <a:ext cx="1886724" cy="320744"/>
            </a:xfrm>
            <a:custGeom>
              <a:avLst/>
              <a:gdLst/>
              <a:ahLst/>
              <a:cxnLst/>
              <a:rect r="r" b="b" t="t" l="l"/>
              <a:pathLst>
                <a:path h="320744" w="1886724">
                  <a:moveTo>
                    <a:pt x="55117" y="0"/>
                  </a:moveTo>
                  <a:lnTo>
                    <a:pt x="1831607" y="0"/>
                  </a:lnTo>
                  <a:cubicBezTo>
                    <a:pt x="1862047" y="0"/>
                    <a:pt x="1886724" y="24677"/>
                    <a:pt x="1886724" y="55117"/>
                  </a:cubicBezTo>
                  <a:lnTo>
                    <a:pt x="1886724" y="265627"/>
                  </a:lnTo>
                  <a:cubicBezTo>
                    <a:pt x="1886724" y="280245"/>
                    <a:pt x="1880917" y="294264"/>
                    <a:pt x="1870581" y="304600"/>
                  </a:cubicBezTo>
                  <a:cubicBezTo>
                    <a:pt x="1860244" y="314937"/>
                    <a:pt x="1846225" y="320744"/>
                    <a:pt x="1831607" y="320744"/>
                  </a:cubicBezTo>
                  <a:lnTo>
                    <a:pt x="55117" y="320744"/>
                  </a:lnTo>
                  <a:cubicBezTo>
                    <a:pt x="40499" y="320744"/>
                    <a:pt x="26480" y="314937"/>
                    <a:pt x="16143" y="304600"/>
                  </a:cubicBezTo>
                  <a:cubicBezTo>
                    <a:pt x="5807" y="294264"/>
                    <a:pt x="0" y="280245"/>
                    <a:pt x="0" y="265627"/>
                  </a:cubicBezTo>
                  <a:lnTo>
                    <a:pt x="0" y="55117"/>
                  </a:lnTo>
                  <a:cubicBezTo>
                    <a:pt x="0" y="40499"/>
                    <a:pt x="5807" y="26480"/>
                    <a:pt x="16143" y="16143"/>
                  </a:cubicBezTo>
                  <a:cubicBezTo>
                    <a:pt x="26480" y="5807"/>
                    <a:pt x="40499" y="0"/>
                    <a:pt x="55117" y="0"/>
                  </a:cubicBezTo>
                  <a:close/>
                </a:path>
              </a:pathLst>
            </a:custGeom>
            <a:solidFill>
              <a:srgbClr val="0D0F68"/>
            </a:solidFill>
          </p:spPr>
        </p:sp>
        <p:sp>
          <p:nvSpPr>
            <p:cNvPr name="TextBox 8" id="8"/>
            <p:cNvSpPr txBox="true"/>
            <p:nvPr/>
          </p:nvSpPr>
          <p:spPr>
            <a:xfrm>
              <a:off x="0" y="-38100"/>
              <a:ext cx="1886724" cy="358844"/>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3761833" y="3329467"/>
            <a:ext cx="11421840" cy="4152159"/>
          </a:xfrm>
          <a:custGeom>
            <a:avLst/>
            <a:gdLst/>
            <a:ahLst/>
            <a:cxnLst/>
            <a:rect r="r" b="b" t="t" l="l"/>
            <a:pathLst>
              <a:path h="4152159" w="11421840">
                <a:moveTo>
                  <a:pt x="0" y="0"/>
                </a:moveTo>
                <a:lnTo>
                  <a:pt x="11421840" y="0"/>
                </a:lnTo>
                <a:lnTo>
                  <a:pt x="11421840" y="4152158"/>
                </a:lnTo>
                <a:lnTo>
                  <a:pt x="0" y="4152158"/>
                </a:lnTo>
                <a:lnTo>
                  <a:pt x="0" y="0"/>
                </a:lnTo>
                <a:close/>
              </a:path>
            </a:pathLst>
          </a:custGeom>
          <a:blipFill>
            <a:blip r:embed="rId3"/>
            <a:stretch>
              <a:fillRect l="0" t="0" r="0" b="0"/>
            </a:stretch>
          </a:blipFill>
        </p:spPr>
      </p:sp>
      <p:sp>
        <p:nvSpPr>
          <p:cNvPr name="TextBox 10" id="10"/>
          <p:cNvSpPr txBox="true"/>
          <p:nvPr/>
        </p:nvSpPr>
        <p:spPr>
          <a:xfrm rot="0">
            <a:off x="12446545" y="600075"/>
            <a:ext cx="5474256" cy="771497"/>
          </a:xfrm>
          <a:prstGeom prst="rect">
            <a:avLst/>
          </a:prstGeom>
        </p:spPr>
        <p:txBody>
          <a:bodyPr anchor="t" rtlCol="false" tIns="0" lIns="0" bIns="0" rIns="0">
            <a:spAutoFit/>
          </a:bodyPr>
          <a:lstStyle/>
          <a:p>
            <a:pPr algn="ctr">
              <a:lnSpc>
                <a:spcPts val="6299"/>
              </a:lnSpc>
            </a:pPr>
            <a:r>
              <a:rPr lang="en-US" sz="4500">
                <a:solidFill>
                  <a:srgbClr val="FFFFFF"/>
                </a:solidFill>
                <a:latin typeface="Yeseva One"/>
                <a:ea typeface="Yeseva One"/>
                <a:cs typeface="Yeseva One"/>
                <a:sym typeface="Yeseva One"/>
              </a:rPr>
              <a:t>03. Thực nghiệm</a:t>
            </a:r>
          </a:p>
        </p:txBody>
      </p:sp>
      <p:sp>
        <p:nvSpPr>
          <p:cNvPr name="TextBox 11" id="11"/>
          <p:cNvSpPr txBox="true"/>
          <p:nvPr/>
        </p:nvSpPr>
        <p:spPr>
          <a:xfrm rot="0">
            <a:off x="1384673" y="2107136"/>
            <a:ext cx="11728077" cy="679405"/>
          </a:xfrm>
          <a:prstGeom prst="rect">
            <a:avLst/>
          </a:prstGeom>
        </p:spPr>
        <p:txBody>
          <a:bodyPr anchor="t" rtlCol="false" tIns="0" lIns="0" bIns="0" rIns="0">
            <a:spAutoFit/>
          </a:bodyPr>
          <a:lstStyle/>
          <a:p>
            <a:pPr algn="ctr">
              <a:lnSpc>
                <a:spcPts val="5599"/>
              </a:lnSpc>
              <a:spcBef>
                <a:spcPct val="0"/>
              </a:spcBef>
            </a:pPr>
            <a:r>
              <a:rPr lang="en-US" sz="3999">
                <a:solidFill>
                  <a:srgbClr val="000000"/>
                </a:solidFill>
                <a:latin typeface="Noto Serif Bold"/>
                <a:ea typeface="Noto Serif Bold"/>
                <a:cs typeface="Noto Serif Bold"/>
                <a:sym typeface="Noto Serif Bold"/>
              </a:rPr>
              <a:t>Kết quả mô hình đánh giá khả năng trả lời</a:t>
            </a:r>
          </a:p>
        </p:txBody>
      </p:sp>
      <p:sp>
        <p:nvSpPr>
          <p:cNvPr name="TextBox 12" id="12"/>
          <p:cNvSpPr txBox="true"/>
          <p:nvPr/>
        </p:nvSpPr>
        <p:spPr>
          <a:xfrm rot="0">
            <a:off x="2568538" y="7976925"/>
            <a:ext cx="14690762" cy="495265"/>
          </a:xfrm>
          <a:prstGeom prst="rect">
            <a:avLst/>
          </a:prstGeom>
        </p:spPr>
        <p:txBody>
          <a:bodyPr anchor="t" rtlCol="false" tIns="0" lIns="0" bIns="0" rIns="0">
            <a:spAutoFit/>
          </a:bodyPr>
          <a:lstStyle/>
          <a:p>
            <a:pPr algn="ctr">
              <a:lnSpc>
                <a:spcPts val="4199"/>
              </a:lnSpc>
              <a:spcBef>
                <a:spcPct val="0"/>
              </a:spcBef>
            </a:pPr>
            <a:r>
              <a:rPr lang="en-US" sz="2999">
                <a:solidFill>
                  <a:srgbClr val="000000"/>
                </a:solidFill>
                <a:latin typeface="Canva Sans Bold"/>
                <a:ea typeface="Canva Sans Bold"/>
                <a:cs typeface="Canva Sans Bold"/>
                <a:sym typeface="Canva Sans Bold"/>
              </a:rPr>
              <a:t>Kết luận:</a:t>
            </a:r>
            <a:r>
              <a:rPr lang="en-US" sz="2999">
                <a:solidFill>
                  <a:srgbClr val="000000"/>
                </a:solidFill>
                <a:latin typeface="Canva Sans"/>
                <a:ea typeface="Canva Sans"/>
                <a:cs typeface="Canva Sans"/>
                <a:sym typeface="Canva Sans"/>
              </a:rPr>
              <a:t> mQG nổi bật hơn các mô hình khác ở tất cả các độ đo. </a:t>
            </a:r>
          </a:p>
        </p:txBody>
      </p:sp>
      <p:sp>
        <p:nvSpPr>
          <p:cNvPr name="TextBox 13" id="13"/>
          <p:cNvSpPr txBox="true"/>
          <p:nvPr/>
        </p:nvSpPr>
        <p:spPr>
          <a:xfrm rot="0">
            <a:off x="10330253" y="9598025"/>
            <a:ext cx="14679282" cy="688975"/>
          </a:xfrm>
          <a:prstGeom prst="rect">
            <a:avLst/>
          </a:prstGeom>
        </p:spPr>
        <p:txBody>
          <a:bodyPr anchor="t" rtlCol="false" tIns="0" lIns="0" bIns="0" rIns="0">
            <a:spAutoFit/>
          </a:bodyPr>
          <a:lstStyle/>
          <a:p>
            <a:pPr algn="ctr">
              <a:lnSpc>
                <a:spcPts val="5599"/>
              </a:lnSpc>
            </a:pPr>
            <a:r>
              <a:rPr lang="en-US" sz="3999">
                <a:solidFill>
                  <a:srgbClr val="0D0F68"/>
                </a:solidFill>
                <a:latin typeface="Yeseva One"/>
                <a:ea typeface="Yeseva One"/>
                <a:cs typeface="Yeseva One"/>
                <a:sym typeface="Yeseva One"/>
              </a:rPr>
              <a:t>06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779703" y="1028700"/>
            <a:ext cx="16717130" cy="8561596"/>
            <a:chOff x="0" y="0"/>
            <a:chExt cx="4402866" cy="2254906"/>
          </a:xfrm>
        </p:grpSpPr>
        <p:sp>
          <p:nvSpPr>
            <p:cNvPr name="Freeform 4" id="4"/>
            <p:cNvSpPr/>
            <p:nvPr/>
          </p:nvSpPr>
          <p:spPr>
            <a:xfrm flipH="false" flipV="false" rot="0">
              <a:off x="0" y="0"/>
              <a:ext cx="4402866" cy="2254906"/>
            </a:xfrm>
            <a:custGeom>
              <a:avLst/>
              <a:gdLst/>
              <a:ahLst/>
              <a:cxnLst/>
              <a:rect r="r" b="b" t="t" l="l"/>
              <a:pathLst>
                <a:path h="2254906" w="4402866">
                  <a:moveTo>
                    <a:pt x="23619" y="0"/>
                  </a:moveTo>
                  <a:lnTo>
                    <a:pt x="4379247" y="0"/>
                  </a:lnTo>
                  <a:cubicBezTo>
                    <a:pt x="4392291" y="0"/>
                    <a:pt x="4402866" y="10574"/>
                    <a:pt x="4402866" y="23619"/>
                  </a:cubicBezTo>
                  <a:lnTo>
                    <a:pt x="4402866" y="2231287"/>
                  </a:lnTo>
                  <a:cubicBezTo>
                    <a:pt x="4402866" y="2244331"/>
                    <a:pt x="4392291" y="2254906"/>
                    <a:pt x="4379247" y="2254906"/>
                  </a:cubicBezTo>
                  <a:lnTo>
                    <a:pt x="23619" y="2254906"/>
                  </a:lnTo>
                  <a:cubicBezTo>
                    <a:pt x="10574" y="2254906"/>
                    <a:pt x="0" y="2244331"/>
                    <a:pt x="0" y="2231287"/>
                  </a:cubicBezTo>
                  <a:lnTo>
                    <a:pt x="0" y="23619"/>
                  </a:lnTo>
                  <a:cubicBezTo>
                    <a:pt x="0" y="10574"/>
                    <a:pt x="10574" y="0"/>
                    <a:pt x="23619" y="0"/>
                  </a:cubicBezTo>
                  <a:close/>
                </a:path>
              </a:pathLst>
            </a:custGeom>
            <a:solidFill>
              <a:srgbClr val="FBFBFB">
                <a:alpha val="89804"/>
              </a:srgbClr>
            </a:solidFill>
          </p:spPr>
        </p:sp>
        <p:sp>
          <p:nvSpPr>
            <p:cNvPr name="TextBox 5" id="5"/>
            <p:cNvSpPr txBox="true"/>
            <p:nvPr/>
          </p:nvSpPr>
          <p:spPr>
            <a:xfrm>
              <a:off x="0" y="-38100"/>
              <a:ext cx="4402866" cy="2293006"/>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601846" y="419788"/>
            <a:ext cx="7163655" cy="1217823"/>
            <a:chOff x="0" y="0"/>
            <a:chExt cx="1886724" cy="320744"/>
          </a:xfrm>
        </p:grpSpPr>
        <p:sp>
          <p:nvSpPr>
            <p:cNvPr name="Freeform 7" id="7"/>
            <p:cNvSpPr/>
            <p:nvPr/>
          </p:nvSpPr>
          <p:spPr>
            <a:xfrm flipH="false" flipV="false" rot="0">
              <a:off x="0" y="0"/>
              <a:ext cx="1886724" cy="320744"/>
            </a:xfrm>
            <a:custGeom>
              <a:avLst/>
              <a:gdLst/>
              <a:ahLst/>
              <a:cxnLst/>
              <a:rect r="r" b="b" t="t" l="l"/>
              <a:pathLst>
                <a:path h="320744" w="1886724">
                  <a:moveTo>
                    <a:pt x="55117" y="0"/>
                  </a:moveTo>
                  <a:lnTo>
                    <a:pt x="1831607" y="0"/>
                  </a:lnTo>
                  <a:cubicBezTo>
                    <a:pt x="1862047" y="0"/>
                    <a:pt x="1886724" y="24677"/>
                    <a:pt x="1886724" y="55117"/>
                  </a:cubicBezTo>
                  <a:lnTo>
                    <a:pt x="1886724" y="265627"/>
                  </a:lnTo>
                  <a:cubicBezTo>
                    <a:pt x="1886724" y="280245"/>
                    <a:pt x="1880917" y="294264"/>
                    <a:pt x="1870581" y="304600"/>
                  </a:cubicBezTo>
                  <a:cubicBezTo>
                    <a:pt x="1860244" y="314937"/>
                    <a:pt x="1846225" y="320744"/>
                    <a:pt x="1831607" y="320744"/>
                  </a:cubicBezTo>
                  <a:lnTo>
                    <a:pt x="55117" y="320744"/>
                  </a:lnTo>
                  <a:cubicBezTo>
                    <a:pt x="40499" y="320744"/>
                    <a:pt x="26480" y="314937"/>
                    <a:pt x="16143" y="304600"/>
                  </a:cubicBezTo>
                  <a:cubicBezTo>
                    <a:pt x="5807" y="294264"/>
                    <a:pt x="0" y="280245"/>
                    <a:pt x="0" y="265627"/>
                  </a:cubicBezTo>
                  <a:lnTo>
                    <a:pt x="0" y="55117"/>
                  </a:lnTo>
                  <a:cubicBezTo>
                    <a:pt x="0" y="40499"/>
                    <a:pt x="5807" y="26480"/>
                    <a:pt x="16143" y="16143"/>
                  </a:cubicBezTo>
                  <a:cubicBezTo>
                    <a:pt x="26480" y="5807"/>
                    <a:pt x="40499" y="0"/>
                    <a:pt x="55117" y="0"/>
                  </a:cubicBezTo>
                  <a:close/>
                </a:path>
              </a:pathLst>
            </a:custGeom>
            <a:solidFill>
              <a:srgbClr val="0D0F68"/>
            </a:solidFill>
          </p:spPr>
        </p:sp>
        <p:sp>
          <p:nvSpPr>
            <p:cNvPr name="TextBox 8" id="8"/>
            <p:cNvSpPr txBox="true"/>
            <p:nvPr/>
          </p:nvSpPr>
          <p:spPr>
            <a:xfrm>
              <a:off x="0" y="-38100"/>
              <a:ext cx="1886724" cy="358844"/>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2015930" y="4573033"/>
            <a:ext cx="7759327" cy="2405380"/>
          </a:xfrm>
          <a:custGeom>
            <a:avLst/>
            <a:gdLst/>
            <a:ahLst/>
            <a:cxnLst/>
            <a:rect r="r" b="b" t="t" l="l"/>
            <a:pathLst>
              <a:path h="2405380" w="7759327">
                <a:moveTo>
                  <a:pt x="0" y="0"/>
                </a:moveTo>
                <a:lnTo>
                  <a:pt x="7759327" y="0"/>
                </a:lnTo>
                <a:lnTo>
                  <a:pt x="7759327" y="2405380"/>
                </a:lnTo>
                <a:lnTo>
                  <a:pt x="0" y="2405380"/>
                </a:lnTo>
                <a:lnTo>
                  <a:pt x="0" y="0"/>
                </a:lnTo>
                <a:close/>
              </a:path>
            </a:pathLst>
          </a:custGeom>
          <a:blipFill>
            <a:blip r:embed="rId4"/>
            <a:stretch>
              <a:fillRect l="-2975" t="0" r="-4462" b="0"/>
            </a:stretch>
          </a:blipFill>
        </p:spPr>
      </p:sp>
      <p:sp>
        <p:nvSpPr>
          <p:cNvPr name="Freeform 10" id="10"/>
          <p:cNvSpPr/>
          <p:nvPr/>
        </p:nvSpPr>
        <p:spPr>
          <a:xfrm flipH="false" flipV="false" rot="0">
            <a:off x="11463956" y="4525408"/>
            <a:ext cx="5560957" cy="3352732"/>
          </a:xfrm>
          <a:custGeom>
            <a:avLst/>
            <a:gdLst/>
            <a:ahLst/>
            <a:cxnLst/>
            <a:rect r="r" b="b" t="t" l="l"/>
            <a:pathLst>
              <a:path h="3352732" w="5560957">
                <a:moveTo>
                  <a:pt x="0" y="0"/>
                </a:moveTo>
                <a:lnTo>
                  <a:pt x="5560957" y="0"/>
                </a:lnTo>
                <a:lnTo>
                  <a:pt x="5560957" y="3352732"/>
                </a:lnTo>
                <a:lnTo>
                  <a:pt x="0" y="3352732"/>
                </a:lnTo>
                <a:lnTo>
                  <a:pt x="0" y="0"/>
                </a:lnTo>
                <a:close/>
              </a:path>
            </a:pathLst>
          </a:custGeom>
          <a:blipFill>
            <a:blip r:embed="rId5"/>
            <a:stretch>
              <a:fillRect l="0" t="0" r="0" b="0"/>
            </a:stretch>
          </a:blipFill>
        </p:spPr>
      </p:sp>
      <p:sp>
        <p:nvSpPr>
          <p:cNvPr name="TextBox 11" id="11"/>
          <p:cNvSpPr txBox="true"/>
          <p:nvPr/>
        </p:nvSpPr>
        <p:spPr>
          <a:xfrm rot="0">
            <a:off x="12446545" y="600075"/>
            <a:ext cx="5474256" cy="771497"/>
          </a:xfrm>
          <a:prstGeom prst="rect">
            <a:avLst/>
          </a:prstGeom>
        </p:spPr>
        <p:txBody>
          <a:bodyPr anchor="t" rtlCol="false" tIns="0" lIns="0" bIns="0" rIns="0">
            <a:spAutoFit/>
          </a:bodyPr>
          <a:lstStyle/>
          <a:p>
            <a:pPr algn="ctr">
              <a:lnSpc>
                <a:spcPts val="6299"/>
              </a:lnSpc>
            </a:pPr>
            <a:r>
              <a:rPr lang="en-US" sz="4500">
                <a:solidFill>
                  <a:srgbClr val="FFFFFF"/>
                </a:solidFill>
                <a:latin typeface="Yeseva One"/>
                <a:ea typeface="Yeseva One"/>
                <a:cs typeface="Yeseva One"/>
                <a:sym typeface="Yeseva One"/>
              </a:rPr>
              <a:t>03. Thực nghiệm</a:t>
            </a:r>
          </a:p>
        </p:txBody>
      </p:sp>
      <p:sp>
        <p:nvSpPr>
          <p:cNvPr name="TextBox 12" id="12"/>
          <p:cNvSpPr txBox="true"/>
          <p:nvPr/>
        </p:nvSpPr>
        <p:spPr>
          <a:xfrm rot="0">
            <a:off x="1384673" y="2107136"/>
            <a:ext cx="10716948" cy="679405"/>
          </a:xfrm>
          <a:prstGeom prst="rect">
            <a:avLst/>
          </a:prstGeom>
        </p:spPr>
        <p:txBody>
          <a:bodyPr anchor="t" rtlCol="false" tIns="0" lIns="0" bIns="0" rIns="0">
            <a:spAutoFit/>
          </a:bodyPr>
          <a:lstStyle/>
          <a:p>
            <a:pPr algn="ctr">
              <a:lnSpc>
                <a:spcPts val="5599"/>
              </a:lnSpc>
              <a:spcBef>
                <a:spcPct val="0"/>
              </a:spcBef>
            </a:pPr>
            <a:r>
              <a:rPr lang="en-US" sz="3999">
                <a:solidFill>
                  <a:srgbClr val="000000"/>
                </a:solidFill>
                <a:latin typeface="Noto Serif Bold"/>
                <a:ea typeface="Noto Serif Bold"/>
                <a:cs typeface="Noto Serif Bold"/>
                <a:sym typeface="Noto Serif Bold"/>
              </a:rPr>
              <a:t>Kết quả đánh giá bởi con người</a:t>
            </a:r>
          </a:p>
        </p:txBody>
      </p:sp>
      <p:sp>
        <p:nvSpPr>
          <p:cNvPr name="TextBox 13" id="13"/>
          <p:cNvSpPr txBox="true"/>
          <p:nvPr/>
        </p:nvSpPr>
        <p:spPr>
          <a:xfrm rot="0">
            <a:off x="3263253" y="3366551"/>
            <a:ext cx="4683689" cy="606407"/>
          </a:xfrm>
          <a:prstGeom prst="rect">
            <a:avLst/>
          </a:prstGeom>
        </p:spPr>
        <p:txBody>
          <a:bodyPr anchor="t" rtlCol="false" tIns="0" lIns="0" bIns="0" rIns="0">
            <a:spAutoFit/>
          </a:bodyPr>
          <a:lstStyle/>
          <a:p>
            <a:pPr algn="ctr">
              <a:lnSpc>
                <a:spcPts val="4900"/>
              </a:lnSpc>
            </a:pPr>
            <a:r>
              <a:rPr lang="en-US" sz="3500">
                <a:solidFill>
                  <a:srgbClr val="0D0F68"/>
                </a:solidFill>
                <a:latin typeface="Cabin Bold"/>
                <a:ea typeface="Cabin Bold"/>
                <a:cs typeface="Cabin Bold"/>
                <a:sym typeface="Cabin Bold"/>
              </a:rPr>
              <a:t>Độ đa dạng</a:t>
            </a:r>
          </a:p>
        </p:txBody>
      </p:sp>
      <p:sp>
        <p:nvSpPr>
          <p:cNvPr name="TextBox 14" id="14"/>
          <p:cNvSpPr txBox="true"/>
          <p:nvPr/>
        </p:nvSpPr>
        <p:spPr>
          <a:xfrm rot="0">
            <a:off x="10934886" y="3472387"/>
            <a:ext cx="6561947" cy="606407"/>
          </a:xfrm>
          <a:prstGeom prst="rect">
            <a:avLst/>
          </a:prstGeom>
        </p:spPr>
        <p:txBody>
          <a:bodyPr anchor="t" rtlCol="false" tIns="0" lIns="0" bIns="0" rIns="0">
            <a:spAutoFit/>
          </a:bodyPr>
          <a:lstStyle/>
          <a:p>
            <a:pPr algn="ctr">
              <a:lnSpc>
                <a:spcPts val="4900"/>
              </a:lnSpc>
            </a:pPr>
            <a:r>
              <a:rPr lang="en-US" sz="3500">
                <a:solidFill>
                  <a:srgbClr val="0D0F68"/>
                </a:solidFill>
                <a:latin typeface="Cabin Bold"/>
                <a:ea typeface="Cabin Bold"/>
                <a:cs typeface="Cabin Bold"/>
                <a:sym typeface="Cabin Bold"/>
              </a:rPr>
              <a:t>Chất lượng câu hỏi</a:t>
            </a:r>
          </a:p>
        </p:txBody>
      </p:sp>
      <p:sp>
        <p:nvSpPr>
          <p:cNvPr name="TextBox 15" id="15"/>
          <p:cNvSpPr txBox="true"/>
          <p:nvPr/>
        </p:nvSpPr>
        <p:spPr>
          <a:xfrm rot="0">
            <a:off x="1028700" y="8402015"/>
            <a:ext cx="16536128" cy="523798"/>
          </a:xfrm>
          <a:prstGeom prst="rect">
            <a:avLst/>
          </a:prstGeom>
        </p:spPr>
        <p:txBody>
          <a:bodyPr anchor="t" rtlCol="false" tIns="0" lIns="0" bIns="0" rIns="0">
            <a:spAutoFit/>
          </a:bodyPr>
          <a:lstStyle/>
          <a:p>
            <a:pPr algn="ctr">
              <a:lnSpc>
                <a:spcPts val="4200"/>
              </a:lnSpc>
              <a:spcBef>
                <a:spcPct val="0"/>
              </a:spcBef>
            </a:pPr>
            <a:r>
              <a:rPr lang="en-US" sz="3000">
                <a:solidFill>
                  <a:srgbClr val="000000"/>
                </a:solidFill>
                <a:latin typeface="Cabin Bold"/>
                <a:ea typeface="Cabin Bold"/>
                <a:cs typeface="Cabin Bold"/>
                <a:sym typeface="Cabin Bold"/>
              </a:rPr>
              <a:t>Kết luận:</a:t>
            </a:r>
            <a:r>
              <a:rPr lang="en-US" sz="3000">
                <a:solidFill>
                  <a:srgbClr val="000000"/>
                </a:solidFill>
                <a:latin typeface="Cabin"/>
                <a:ea typeface="Cabin"/>
                <a:cs typeface="Cabin"/>
                <a:sym typeface="Cabin"/>
              </a:rPr>
              <a:t> mQG tạo ra đa dạng câu hỏi nhất, các câu chính xác về ngữ nghĩa và liên quan đến ngữ cảnh</a:t>
            </a:r>
          </a:p>
        </p:txBody>
      </p:sp>
      <p:sp>
        <p:nvSpPr>
          <p:cNvPr name="TextBox 16" id="16"/>
          <p:cNvSpPr txBox="true"/>
          <p:nvPr/>
        </p:nvSpPr>
        <p:spPr>
          <a:xfrm rot="0">
            <a:off x="10225187" y="9598025"/>
            <a:ext cx="14679282" cy="688975"/>
          </a:xfrm>
          <a:prstGeom prst="rect">
            <a:avLst/>
          </a:prstGeom>
        </p:spPr>
        <p:txBody>
          <a:bodyPr anchor="t" rtlCol="false" tIns="0" lIns="0" bIns="0" rIns="0">
            <a:spAutoFit/>
          </a:bodyPr>
          <a:lstStyle/>
          <a:p>
            <a:pPr algn="ctr">
              <a:lnSpc>
                <a:spcPts val="5599"/>
              </a:lnSpc>
            </a:pPr>
            <a:r>
              <a:rPr lang="en-US" sz="3999">
                <a:solidFill>
                  <a:srgbClr val="0D0F68"/>
                </a:solidFill>
                <a:latin typeface="Yeseva One"/>
                <a:ea typeface="Yeseva One"/>
                <a:cs typeface="Yeseva One"/>
                <a:sym typeface="Yeseva One"/>
              </a:rPr>
              <a:t>07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1028700" y="1028700"/>
            <a:ext cx="16230600" cy="8229600"/>
            <a:chOff x="0" y="0"/>
            <a:chExt cx="4274726" cy="2167467"/>
          </a:xfrm>
        </p:grpSpPr>
        <p:sp>
          <p:nvSpPr>
            <p:cNvPr name="Freeform 4" id="4"/>
            <p:cNvSpPr/>
            <p:nvPr/>
          </p:nvSpPr>
          <p:spPr>
            <a:xfrm flipH="false" flipV="false" rot="0">
              <a:off x="0" y="0"/>
              <a:ext cx="4274726" cy="2167467"/>
            </a:xfrm>
            <a:custGeom>
              <a:avLst/>
              <a:gdLst/>
              <a:ahLst/>
              <a:cxnLst/>
              <a:rect r="r" b="b" t="t" l="l"/>
              <a:pathLst>
                <a:path h="2167467" w="4274726">
                  <a:moveTo>
                    <a:pt x="24327" y="0"/>
                  </a:moveTo>
                  <a:lnTo>
                    <a:pt x="4250399" y="0"/>
                  </a:lnTo>
                  <a:cubicBezTo>
                    <a:pt x="4263834" y="0"/>
                    <a:pt x="4274726" y="10891"/>
                    <a:pt x="4274726" y="24327"/>
                  </a:cubicBezTo>
                  <a:lnTo>
                    <a:pt x="4274726" y="2143140"/>
                  </a:lnTo>
                  <a:cubicBezTo>
                    <a:pt x="4274726" y="2156575"/>
                    <a:pt x="4263834" y="2167467"/>
                    <a:pt x="4250399" y="2167467"/>
                  </a:cubicBezTo>
                  <a:lnTo>
                    <a:pt x="24327" y="2167467"/>
                  </a:lnTo>
                  <a:cubicBezTo>
                    <a:pt x="10891" y="2167467"/>
                    <a:pt x="0" y="2156575"/>
                    <a:pt x="0" y="2143140"/>
                  </a:cubicBezTo>
                  <a:lnTo>
                    <a:pt x="0" y="24327"/>
                  </a:lnTo>
                  <a:cubicBezTo>
                    <a:pt x="0" y="10891"/>
                    <a:pt x="10891" y="0"/>
                    <a:pt x="24327" y="0"/>
                  </a:cubicBezTo>
                  <a:close/>
                </a:path>
              </a:pathLst>
            </a:custGeom>
            <a:solidFill>
              <a:srgbClr val="FBFBFB">
                <a:alpha val="89804"/>
              </a:srgbClr>
            </a:solidFill>
          </p:spPr>
        </p:sp>
        <p:sp>
          <p:nvSpPr>
            <p:cNvPr name="TextBox 5" id="5"/>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601846" y="419788"/>
            <a:ext cx="7163655" cy="1217823"/>
            <a:chOff x="0" y="0"/>
            <a:chExt cx="1886724" cy="320744"/>
          </a:xfrm>
        </p:grpSpPr>
        <p:sp>
          <p:nvSpPr>
            <p:cNvPr name="Freeform 7" id="7"/>
            <p:cNvSpPr/>
            <p:nvPr/>
          </p:nvSpPr>
          <p:spPr>
            <a:xfrm flipH="false" flipV="false" rot="0">
              <a:off x="0" y="0"/>
              <a:ext cx="1886724" cy="320744"/>
            </a:xfrm>
            <a:custGeom>
              <a:avLst/>
              <a:gdLst/>
              <a:ahLst/>
              <a:cxnLst/>
              <a:rect r="r" b="b" t="t" l="l"/>
              <a:pathLst>
                <a:path h="320744" w="1886724">
                  <a:moveTo>
                    <a:pt x="55117" y="0"/>
                  </a:moveTo>
                  <a:lnTo>
                    <a:pt x="1831607" y="0"/>
                  </a:lnTo>
                  <a:cubicBezTo>
                    <a:pt x="1862047" y="0"/>
                    <a:pt x="1886724" y="24677"/>
                    <a:pt x="1886724" y="55117"/>
                  </a:cubicBezTo>
                  <a:lnTo>
                    <a:pt x="1886724" y="265627"/>
                  </a:lnTo>
                  <a:cubicBezTo>
                    <a:pt x="1886724" y="280245"/>
                    <a:pt x="1880917" y="294264"/>
                    <a:pt x="1870581" y="304600"/>
                  </a:cubicBezTo>
                  <a:cubicBezTo>
                    <a:pt x="1860244" y="314937"/>
                    <a:pt x="1846225" y="320744"/>
                    <a:pt x="1831607" y="320744"/>
                  </a:cubicBezTo>
                  <a:lnTo>
                    <a:pt x="55117" y="320744"/>
                  </a:lnTo>
                  <a:cubicBezTo>
                    <a:pt x="40499" y="320744"/>
                    <a:pt x="26480" y="314937"/>
                    <a:pt x="16143" y="304600"/>
                  </a:cubicBezTo>
                  <a:cubicBezTo>
                    <a:pt x="5807" y="294264"/>
                    <a:pt x="0" y="280245"/>
                    <a:pt x="0" y="265627"/>
                  </a:cubicBezTo>
                  <a:lnTo>
                    <a:pt x="0" y="55117"/>
                  </a:lnTo>
                  <a:cubicBezTo>
                    <a:pt x="0" y="40499"/>
                    <a:pt x="5807" y="26480"/>
                    <a:pt x="16143" y="16143"/>
                  </a:cubicBezTo>
                  <a:cubicBezTo>
                    <a:pt x="26480" y="5807"/>
                    <a:pt x="40499" y="0"/>
                    <a:pt x="55117" y="0"/>
                  </a:cubicBezTo>
                  <a:close/>
                </a:path>
              </a:pathLst>
            </a:custGeom>
            <a:solidFill>
              <a:srgbClr val="0D0F68"/>
            </a:solidFill>
          </p:spPr>
        </p:sp>
        <p:sp>
          <p:nvSpPr>
            <p:cNvPr name="TextBox 8" id="8"/>
            <p:cNvSpPr txBox="true"/>
            <p:nvPr/>
          </p:nvSpPr>
          <p:spPr>
            <a:xfrm>
              <a:off x="0" y="-38100"/>
              <a:ext cx="1886724" cy="358844"/>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5079087" y="3267752"/>
            <a:ext cx="9485785" cy="2617830"/>
          </a:xfrm>
          <a:custGeom>
            <a:avLst/>
            <a:gdLst/>
            <a:ahLst/>
            <a:cxnLst/>
            <a:rect r="r" b="b" t="t" l="l"/>
            <a:pathLst>
              <a:path h="2617830" w="9485785">
                <a:moveTo>
                  <a:pt x="0" y="0"/>
                </a:moveTo>
                <a:lnTo>
                  <a:pt x="9485785" y="0"/>
                </a:lnTo>
                <a:lnTo>
                  <a:pt x="9485785" y="2617831"/>
                </a:lnTo>
                <a:lnTo>
                  <a:pt x="0" y="2617831"/>
                </a:lnTo>
                <a:lnTo>
                  <a:pt x="0" y="0"/>
                </a:lnTo>
                <a:close/>
              </a:path>
            </a:pathLst>
          </a:custGeom>
          <a:blipFill>
            <a:blip r:embed="rId4"/>
            <a:stretch>
              <a:fillRect l="0" t="0" r="0" b="0"/>
            </a:stretch>
          </a:blipFill>
        </p:spPr>
      </p:sp>
      <p:sp>
        <p:nvSpPr>
          <p:cNvPr name="Freeform 10" id="10"/>
          <p:cNvSpPr/>
          <p:nvPr/>
        </p:nvSpPr>
        <p:spPr>
          <a:xfrm flipH="false" flipV="false" rot="0">
            <a:off x="5079087" y="6366748"/>
            <a:ext cx="9485785" cy="2513079"/>
          </a:xfrm>
          <a:custGeom>
            <a:avLst/>
            <a:gdLst/>
            <a:ahLst/>
            <a:cxnLst/>
            <a:rect r="r" b="b" t="t" l="l"/>
            <a:pathLst>
              <a:path h="2513079" w="9485785">
                <a:moveTo>
                  <a:pt x="0" y="0"/>
                </a:moveTo>
                <a:lnTo>
                  <a:pt x="9485785" y="0"/>
                </a:lnTo>
                <a:lnTo>
                  <a:pt x="9485785" y="2513079"/>
                </a:lnTo>
                <a:lnTo>
                  <a:pt x="0" y="2513079"/>
                </a:lnTo>
                <a:lnTo>
                  <a:pt x="0" y="0"/>
                </a:lnTo>
                <a:close/>
              </a:path>
            </a:pathLst>
          </a:custGeom>
          <a:blipFill>
            <a:blip r:embed="rId5"/>
            <a:stretch>
              <a:fillRect l="0" t="0" r="0" b="0"/>
            </a:stretch>
          </a:blipFill>
        </p:spPr>
      </p:sp>
      <p:sp>
        <p:nvSpPr>
          <p:cNvPr name="TextBox 11" id="11"/>
          <p:cNvSpPr txBox="true"/>
          <p:nvPr/>
        </p:nvSpPr>
        <p:spPr>
          <a:xfrm rot="0">
            <a:off x="12446545" y="600075"/>
            <a:ext cx="5474256" cy="771497"/>
          </a:xfrm>
          <a:prstGeom prst="rect">
            <a:avLst/>
          </a:prstGeom>
        </p:spPr>
        <p:txBody>
          <a:bodyPr anchor="t" rtlCol="false" tIns="0" lIns="0" bIns="0" rIns="0">
            <a:spAutoFit/>
          </a:bodyPr>
          <a:lstStyle/>
          <a:p>
            <a:pPr algn="ctr">
              <a:lnSpc>
                <a:spcPts val="6299"/>
              </a:lnSpc>
            </a:pPr>
            <a:r>
              <a:rPr lang="en-US" sz="4500">
                <a:solidFill>
                  <a:srgbClr val="FFFFFF"/>
                </a:solidFill>
                <a:latin typeface="Yeseva One"/>
                <a:ea typeface="Yeseva One"/>
                <a:cs typeface="Yeseva One"/>
                <a:sym typeface="Yeseva One"/>
              </a:rPr>
              <a:t>03. Thực nghiệm</a:t>
            </a:r>
          </a:p>
        </p:txBody>
      </p:sp>
      <p:sp>
        <p:nvSpPr>
          <p:cNvPr name="TextBox 12" id="12"/>
          <p:cNvSpPr txBox="true"/>
          <p:nvPr/>
        </p:nvSpPr>
        <p:spPr>
          <a:xfrm rot="0">
            <a:off x="1384673" y="2107136"/>
            <a:ext cx="10716948" cy="679405"/>
          </a:xfrm>
          <a:prstGeom prst="rect">
            <a:avLst/>
          </a:prstGeom>
        </p:spPr>
        <p:txBody>
          <a:bodyPr anchor="t" rtlCol="false" tIns="0" lIns="0" bIns="0" rIns="0">
            <a:spAutoFit/>
          </a:bodyPr>
          <a:lstStyle/>
          <a:p>
            <a:pPr algn="ctr">
              <a:lnSpc>
                <a:spcPts val="5599"/>
              </a:lnSpc>
              <a:spcBef>
                <a:spcPct val="0"/>
              </a:spcBef>
            </a:pPr>
            <a:r>
              <a:rPr lang="en-US" sz="3999">
                <a:solidFill>
                  <a:srgbClr val="000000"/>
                </a:solidFill>
                <a:latin typeface="Noto Serif Bold"/>
                <a:ea typeface="Noto Serif Bold"/>
                <a:cs typeface="Noto Serif Bold"/>
                <a:sym typeface="Noto Serif Bold"/>
              </a:rPr>
              <a:t>Đánh giá hiệu suất Zero-shot</a:t>
            </a:r>
          </a:p>
        </p:txBody>
      </p:sp>
      <p:sp>
        <p:nvSpPr>
          <p:cNvPr name="TextBox 13" id="13"/>
          <p:cNvSpPr txBox="true"/>
          <p:nvPr/>
        </p:nvSpPr>
        <p:spPr>
          <a:xfrm rot="0">
            <a:off x="10330253" y="9598025"/>
            <a:ext cx="14679282" cy="688975"/>
          </a:xfrm>
          <a:prstGeom prst="rect">
            <a:avLst/>
          </a:prstGeom>
        </p:spPr>
        <p:txBody>
          <a:bodyPr anchor="t" rtlCol="false" tIns="0" lIns="0" bIns="0" rIns="0">
            <a:spAutoFit/>
          </a:bodyPr>
          <a:lstStyle/>
          <a:p>
            <a:pPr algn="ctr">
              <a:lnSpc>
                <a:spcPts val="5599"/>
              </a:lnSpc>
            </a:pPr>
            <a:r>
              <a:rPr lang="en-US" sz="3999">
                <a:solidFill>
                  <a:srgbClr val="0D0F68"/>
                </a:solidFill>
                <a:latin typeface="Yeseva One"/>
                <a:ea typeface="Yeseva One"/>
                <a:cs typeface="Yeseva One"/>
                <a:sym typeface="Yeseva One"/>
              </a:rPr>
              <a:t>08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618727" y="205497"/>
            <a:ext cx="8146774" cy="1217823"/>
            <a:chOff x="0" y="0"/>
            <a:chExt cx="2145652" cy="320744"/>
          </a:xfrm>
        </p:grpSpPr>
        <p:sp>
          <p:nvSpPr>
            <p:cNvPr name="Freeform 4" id="4"/>
            <p:cNvSpPr/>
            <p:nvPr/>
          </p:nvSpPr>
          <p:spPr>
            <a:xfrm flipH="false" flipV="false" rot="0">
              <a:off x="0" y="0"/>
              <a:ext cx="2145652" cy="320744"/>
            </a:xfrm>
            <a:custGeom>
              <a:avLst/>
              <a:gdLst/>
              <a:ahLst/>
              <a:cxnLst/>
              <a:rect r="r" b="b" t="t" l="l"/>
              <a:pathLst>
                <a:path h="320744" w="2145652">
                  <a:moveTo>
                    <a:pt x="48466" y="0"/>
                  </a:moveTo>
                  <a:lnTo>
                    <a:pt x="2097187" y="0"/>
                  </a:lnTo>
                  <a:cubicBezTo>
                    <a:pt x="2123954" y="0"/>
                    <a:pt x="2145652" y="21699"/>
                    <a:pt x="2145652" y="48466"/>
                  </a:cubicBezTo>
                  <a:lnTo>
                    <a:pt x="2145652" y="272278"/>
                  </a:lnTo>
                  <a:cubicBezTo>
                    <a:pt x="2145652" y="299045"/>
                    <a:pt x="2123954" y="320744"/>
                    <a:pt x="2097187" y="320744"/>
                  </a:cubicBezTo>
                  <a:lnTo>
                    <a:pt x="48466" y="320744"/>
                  </a:lnTo>
                  <a:cubicBezTo>
                    <a:pt x="21699" y="320744"/>
                    <a:pt x="0" y="299045"/>
                    <a:pt x="0" y="272278"/>
                  </a:cubicBezTo>
                  <a:lnTo>
                    <a:pt x="0" y="48466"/>
                  </a:lnTo>
                  <a:cubicBezTo>
                    <a:pt x="0" y="21699"/>
                    <a:pt x="21699" y="0"/>
                    <a:pt x="48466" y="0"/>
                  </a:cubicBezTo>
                  <a:close/>
                </a:path>
              </a:pathLst>
            </a:custGeom>
            <a:solidFill>
              <a:srgbClr val="0D0F68"/>
            </a:solidFill>
          </p:spPr>
        </p:sp>
        <p:sp>
          <p:nvSpPr>
            <p:cNvPr name="TextBox 5" id="5"/>
            <p:cNvSpPr txBox="true"/>
            <p:nvPr/>
          </p:nvSpPr>
          <p:spPr>
            <a:xfrm>
              <a:off x="0" y="-38100"/>
              <a:ext cx="2145652" cy="35884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2259088" y="745019"/>
            <a:ext cx="6554722" cy="4620953"/>
          </a:xfrm>
          <a:custGeom>
            <a:avLst/>
            <a:gdLst/>
            <a:ahLst/>
            <a:cxnLst/>
            <a:rect r="r" b="b" t="t" l="l"/>
            <a:pathLst>
              <a:path h="4620953" w="6554722">
                <a:moveTo>
                  <a:pt x="0" y="0"/>
                </a:moveTo>
                <a:lnTo>
                  <a:pt x="6554721" y="0"/>
                </a:lnTo>
                <a:lnTo>
                  <a:pt x="6554721" y="4620953"/>
                </a:lnTo>
                <a:lnTo>
                  <a:pt x="0" y="4620953"/>
                </a:lnTo>
                <a:lnTo>
                  <a:pt x="0" y="0"/>
                </a:lnTo>
                <a:close/>
              </a:path>
            </a:pathLst>
          </a:custGeom>
          <a:blipFill>
            <a:blip r:embed="rId3"/>
            <a:stretch>
              <a:fillRect l="0" t="0" r="0" b="0"/>
            </a:stretch>
          </a:blipFill>
        </p:spPr>
      </p:sp>
      <p:sp>
        <p:nvSpPr>
          <p:cNvPr name="Freeform 7" id="7"/>
          <p:cNvSpPr/>
          <p:nvPr/>
        </p:nvSpPr>
        <p:spPr>
          <a:xfrm flipH="false" flipV="false" rot="0">
            <a:off x="2259088" y="5765801"/>
            <a:ext cx="11833190" cy="2997420"/>
          </a:xfrm>
          <a:custGeom>
            <a:avLst/>
            <a:gdLst/>
            <a:ahLst/>
            <a:cxnLst/>
            <a:rect r="r" b="b" t="t" l="l"/>
            <a:pathLst>
              <a:path h="2997420" w="11833190">
                <a:moveTo>
                  <a:pt x="0" y="0"/>
                </a:moveTo>
                <a:lnTo>
                  <a:pt x="11833190" y="0"/>
                </a:lnTo>
                <a:lnTo>
                  <a:pt x="11833190" y="2997420"/>
                </a:lnTo>
                <a:lnTo>
                  <a:pt x="0" y="2997420"/>
                </a:lnTo>
                <a:lnTo>
                  <a:pt x="0" y="0"/>
                </a:lnTo>
                <a:close/>
              </a:path>
            </a:pathLst>
          </a:custGeom>
          <a:blipFill>
            <a:blip r:embed="rId4"/>
            <a:stretch>
              <a:fillRect l="0" t="0" r="0" b="0"/>
            </a:stretch>
          </a:blipFill>
        </p:spPr>
      </p:sp>
      <p:sp>
        <p:nvSpPr>
          <p:cNvPr name="TextBox 8" id="8"/>
          <p:cNvSpPr txBox="true"/>
          <p:nvPr/>
        </p:nvSpPr>
        <p:spPr>
          <a:xfrm rot="0">
            <a:off x="10899965" y="385784"/>
            <a:ext cx="7302310" cy="771497"/>
          </a:xfrm>
          <a:prstGeom prst="rect">
            <a:avLst/>
          </a:prstGeom>
        </p:spPr>
        <p:txBody>
          <a:bodyPr anchor="t" rtlCol="false" tIns="0" lIns="0" bIns="0" rIns="0">
            <a:spAutoFit/>
          </a:bodyPr>
          <a:lstStyle/>
          <a:p>
            <a:pPr algn="ctr">
              <a:lnSpc>
                <a:spcPts val="6299"/>
              </a:lnSpc>
            </a:pPr>
            <a:r>
              <a:rPr lang="en-US" sz="4500">
                <a:solidFill>
                  <a:srgbClr val="FFFFFF"/>
                </a:solidFill>
                <a:latin typeface="Yeseva One"/>
                <a:ea typeface="Yeseva One"/>
                <a:cs typeface="Yeseva One"/>
                <a:sym typeface="Yeseva One"/>
              </a:rPr>
              <a:t>04. Nghiên cứu Ablation</a:t>
            </a:r>
          </a:p>
        </p:txBody>
      </p:sp>
      <p:grpSp>
        <p:nvGrpSpPr>
          <p:cNvPr name="Group 9" id="9"/>
          <p:cNvGrpSpPr/>
          <p:nvPr/>
        </p:nvGrpSpPr>
        <p:grpSpPr>
          <a:xfrm rot="0">
            <a:off x="9493062" y="2767614"/>
            <a:ext cx="5533171" cy="1712432"/>
            <a:chOff x="0" y="0"/>
            <a:chExt cx="1457296" cy="451011"/>
          </a:xfrm>
        </p:grpSpPr>
        <p:sp>
          <p:nvSpPr>
            <p:cNvPr name="Freeform 10" id="10"/>
            <p:cNvSpPr/>
            <p:nvPr/>
          </p:nvSpPr>
          <p:spPr>
            <a:xfrm flipH="false" flipV="false" rot="0">
              <a:off x="0" y="0"/>
              <a:ext cx="1457296" cy="451011"/>
            </a:xfrm>
            <a:custGeom>
              <a:avLst/>
              <a:gdLst/>
              <a:ahLst/>
              <a:cxnLst/>
              <a:rect r="r" b="b" t="t" l="l"/>
              <a:pathLst>
                <a:path h="451011" w="1457296">
                  <a:moveTo>
                    <a:pt x="71358" y="0"/>
                  </a:moveTo>
                  <a:lnTo>
                    <a:pt x="1385938" y="0"/>
                  </a:lnTo>
                  <a:cubicBezTo>
                    <a:pt x="1404863" y="0"/>
                    <a:pt x="1423013" y="7518"/>
                    <a:pt x="1436396" y="20900"/>
                  </a:cubicBezTo>
                  <a:cubicBezTo>
                    <a:pt x="1449778" y="34283"/>
                    <a:pt x="1457296" y="52433"/>
                    <a:pt x="1457296" y="71358"/>
                  </a:cubicBezTo>
                  <a:lnTo>
                    <a:pt x="1457296" y="379652"/>
                  </a:lnTo>
                  <a:cubicBezTo>
                    <a:pt x="1457296" y="398578"/>
                    <a:pt x="1449778" y="416728"/>
                    <a:pt x="1436396" y="430110"/>
                  </a:cubicBezTo>
                  <a:cubicBezTo>
                    <a:pt x="1423013" y="443493"/>
                    <a:pt x="1404863" y="451011"/>
                    <a:pt x="1385938" y="451011"/>
                  </a:cubicBezTo>
                  <a:lnTo>
                    <a:pt x="71358" y="451011"/>
                  </a:lnTo>
                  <a:cubicBezTo>
                    <a:pt x="52433" y="451011"/>
                    <a:pt x="34283" y="443493"/>
                    <a:pt x="20900" y="430110"/>
                  </a:cubicBezTo>
                  <a:cubicBezTo>
                    <a:pt x="7518" y="416728"/>
                    <a:pt x="0" y="398578"/>
                    <a:pt x="0" y="379652"/>
                  </a:cubicBezTo>
                  <a:lnTo>
                    <a:pt x="0" y="71358"/>
                  </a:lnTo>
                  <a:cubicBezTo>
                    <a:pt x="0" y="52433"/>
                    <a:pt x="7518" y="34283"/>
                    <a:pt x="20900" y="20900"/>
                  </a:cubicBezTo>
                  <a:cubicBezTo>
                    <a:pt x="34283" y="7518"/>
                    <a:pt x="52433" y="0"/>
                    <a:pt x="71358" y="0"/>
                  </a:cubicBezTo>
                  <a:close/>
                </a:path>
              </a:pathLst>
            </a:custGeom>
            <a:solidFill>
              <a:srgbClr val="FBFBFB">
                <a:alpha val="89804"/>
              </a:srgbClr>
            </a:solidFill>
          </p:spPr>
        </p:sp>
        <p:sp>
          <p:nvSpPr>
            <p:cNvPr name="TextBox 11" id="11"/>
            <p:cNvSpPr txBox="true"/>
            <p:nvPr/>
          </p:nvSpPr>
          <p:spPr>
            <a:xfrm>
              <a:off x="0" y="-38100"/>
              <a:ext cx="1457296" cy="48911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9493062" y="2818251"/>
            <a:ext cx="5533171" cy="1661711"/>
          </a:xfrm>
          <a:prstGeom prst="rect">
            <a:avLst/>
          </a:prstGeom>
        </p:spPr>
        <p:txBody>
          <a:bodyPr anchor="t" rtlCol="false" tIns="0" lIns="0" bIns="0" rIns="0">
            <a:spAutoFit/>
          </a:bodyPr>
          <a:lstStyle/>
          <a:p>
            <a:pPr algn="ctr">
              <a:lnSpc>
                <a:spcPts val="4480"/>
              </a:lnSpc>
            </a:pPr>
            <a:r>
              <a:rPr lang="en-US" sz="3200">
                <a:solidFill>
                  <a:srgbClr val="125794"/>
                </a:solidFill>
                <a:latin typeface="Noto Serif"/>
                <a:ea typeface="Noto Serif"/>
                <a:cs typeface="Noto Serif"/>
                <a:sym typeface="Noto Serif"/>
              </a:rPr>
              <a:t>Hiệu suất trên tập FairyTaleQA khi số lượng câu hỏi thay đổi</a:t>
            </a:r>
          </a:p>
        </p:txBody>
      </p:sp>
      <p:grpSp>
        <p:nvGrpSpPr>
          <p:cNvPr name="Group 13" id="13"/>
          <p:cNvGrpSpPr/>
          <p:nvPr/>
        </p:nvGrpSpPr>
        <p:grpSpPr>
          <a:xfrm rot="0">
            <a:off x="1028700" y="9163050"/>
            <a:ext cx="16828086" cy="774601"/>
            <a:chOff x="0" y="0"/>
            <a:chExt cx="4432088" cy="204010"/>
          </a:xfrm>
        </p:grpSpPr>
        <p:sp>
          <p:nvSpPr>
            <p:cNvPr name="Freeform 14" id="14"/>
            <p:cNvSpPr/>
            <p:nvPr/>
          </p:nvSpPr>
          <p:spPr>
            <a:xfrm flipH="false" flipV="false" rot="0">
              <a:off x="0" y="0"/>
              <a:ext cx="4432088" cy="204010"/>
            </a:xfrm>
            <a:custGeom>
              <a:avLst/>
              <a:gdLst/>
              <a:ahLst/>
              <a:cxnLst/>
              <a:rect r="r" b="b" t="t" l="l"/>
              <a:pathLst>
                <a:path h="204010" w="4432088">
                  <a:moveTo>
                    <a:pt x="23463" y="0"/>
                  </a:moveTo>
                  <a:lnTo>
                    <a:pt x="4408625" y="0"/>
                  </a:lnTo>
                  <a:cubicBezTo>
                    <a:pt x="4414848" y="0"/>
                    <a:pt x="4420816" y="2472"/>
                    <a:pt x="4425216" y="6872"/>
                  </a:cubicBezTo>
                  <a:cubicBezTo>
                    <a:pt x="4429616" y="11272"/>
                    <a:pt x="4432088" y="17240"/>
                    <a:pt x="4432088" y="23463"/>
                  </a:cubicBezTo>
                  <a:lnTo>
                    <a:pt x="4432088" y="180547"/>
                  </a:lnTo>
                  <a:cubicBezTo>
                    <a:pt x="4432088" y="186770"/>
                    <a:pt x="4429616" y="192738"/>
                    <a:pt x="4425216" y="197138"/>
                  </a:cubicBezTo>
                  <a:cubicBezTo>
                    <a:pt x="4420816" y="201538"/>
                    <a:pt x="4414848" y="204010"/>
                    <a:pt x="4408625" y="204010"/>
                  </a:cubicBezTo>
                  <a:lnTo>
                    <a:pt x="23463" y="204010"/>
                  </a:lnTo>
                  <a:cubicBezTo>
                    <a:pt x="17240" y="204010"/>
                    <a:pt x="11272" y="201538"/>
                    <a:pt x="6872" y="197138"/>
                  </a:cubicBezTo>
                  <a:cubicBezTo>
                    <a:pt x="2472" y="192738"/>
                    <a:pt x="0" y="186770"/>
                    <a:pt x="0" y="180547"/>
                  </a:cubicBezTo>
                  <a:lnTo>
                    <a:pt x="0" y="23463"/>
                  </a:lnTo>
                  <a:cubicBezTo>
                    <a:pt x="0" y="17240"/>
                    <a:pt x="2472" y="11272"/>
                    <a:pt x="6872" y="6872"/>
                  </a:cubicBezTo>
                  <a:cubicBezTo>
                    <a:pt x="11272" y="2472"/>
                    <a:pt x="17240" y="0"/>
                    <a:pt x="23463" y="0"/>
                  </a:cubicBezTo>
                  <a:close/>
                </a:path>
              </a:pathLst>
            </a:custGeom>
            <a:solidFill>
              <a:srgbClr val="FBFBFB">
                <a:alpha val="89804"/>
              </a:srgbClr>
            </a:solidFill>
          </p:spPr>
        </p:sp>
        <p:sp>
          <p:nvSpPr>
            <p:cNvPr name="TextBox 15" id="15"/>
            <p:cNvSpPr txBox="true"/>
            <p:nvPr/>
          </p:nvSpPr>
          <p:spPr>
            <a:xfrm>
              <a:off x="0" y="-38100"/>
              <a:ext cx="4432088" cy="242110"/>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698123" y="9201150"/>
            <a:ext cx="17589877" cy="537817"/>
          </a:xfrm>
          <a:prstGeom prst="rect">
            <a:avLst/>
          </a:prstGeom>
        </p:spPr>
        <p:txBody>
          <a:bodyPr anchor="t" rtlCol="false" tIns="0" lIns="0" bIns="0" rIns="0">
            <a:spAutoFit/>
          </a:bodyPr>
          <a:lstStyle/>
          <a:p>
            <a:pPr algn="ctr">
              <a:lnSpc>
                <a:spcPts val="4480"/>
              </a:lnSpc>
            </a:pPr>
            <a:r>
              <a:rPr lang="en-US" sz="3200">
                <a:solidFill>
                  <a:srgbClr val="125794"/>
                </a:solidFill>
                <a:latin typeface="Noto Serif"/>
                <a:ea typeface="Noto Serif"/>
                <a:cs typeface="Noto Serif"/>
                <a:sym typeface="Noto Serif"/>
              </a:rPr>
              <a:t> Kết quả so sánh hiệu suất mQG khi có hoặc không có LMQS và câu hỏi tham chiếu</a:t>
            </a:r>
          </a:p>
        </p:txBody>
      </p:sp>
      <p:sp>
        <p:nvSpPr>
          <p:cNvPr name="TextBox 17" id="17"/>
          <p:cNvSpPr txBox="true"/>
          <p:nvPr/>
        </p:nvSpPr>
        <p:spPr>
          <a:xfrm rot="0">
            <a:off x="10345714" y="9550301"/>
            <a:ext cx="14679282" cy="688975"/>
          </a:xfrm>
          <a:prstGeom prst="rect">
            <a:avLst/>
          </a:prstGeom>
        </p:spPr>
        <p:txBody>
          <a:bodyPr anchor="t" rtlCol="false" tIns="0" lIns="0" bIns="0" rIns="0">
            <a:spAutoFit/>
          </a:bodyPr>
          <a:lstStyle/>
          <a:p>
            <a:pPr algn="ctr">
              <a:lnSpc>
                <a:spcPts val="5599"/>
              </a:lnSpc>
            </a:pPr>
            <a:r>
              <a:rPr lang="en-US" sz="3999">
                <a:solidFill>
                  <a:srgbClr val="0D0F68"/>
                </a:solidFill>
                <a:latin typeface="Yeseva One"/>
                <a:ea typeface="Yeseva One"/>
                <a:cs typeface="Yeseva One"/>
                <a:sym typeface="Yeseva One"/>
              </a:rPr>
              <a:t>09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1028700"/>
            <a:ext cx="16230600" cy="8229600"/>
            <a:chOff x="0" y="0"/>
            <a:chExt cx="4274726" cy="2167467"/>
          </a:xfrm>
        </p:grpSpPr>
        <p:sp>
          <p:nvSpPr>
            <p:cNvPr name="Freeform 4" id="4"/>
            <p:cNvSpPr/>
            <p:nvPr/>
          </p:nvSpPr>
          <p:spPr>
            <a:xfrm flipH="false" flipV="false" rot="0">
              <a:off x="0" y="0"/>
              <a:ext cx="4274726" cy="2167467"/>
            </a:xfrm>
            <a:custGeom>
              <a:avLst/>
              <a:gdLst/>
              <a:ahLst/>
              <a:cxnLst/>
              <a:rect r="r" b="b" t="t" l="l"/>
              <a:pathLst>
                <a:path h="2167467" w="4274726">
                  <a:moveTo>
                    <a:pt x="24327" y="0"/>
                  </a:moveTo>
                  <a:lnTo>
                    <a:pt x="4250399" y="0"/>
                  </a:lnTo>
                  <a:cubicBezTo>
                    <a:pt x="4263834" y="0"/>
                    <a:pt x="4274726" y="10891"/>
                    <a:pt x="4274726" y="24327"/>
                  </a:cubicBezTo>
                  <a:lnTo>
                    <a:pt x="4274726" y="2143140"/>
                  </a:lnTo>
                  <a:cubicBezTo>
                    <a:pt x="4274726" y="2156575"/>
                    <a:pt x="4263834" y="2167467"/>
                    <a:pt x="4250399" y="2167467"/>
                  </a:cubicBezTo>
                  <a:lnTo>
                    <a:pt x="24327" y="2167467"/>
                  </a:lnTo>
                  <a:cubicBezTo>
                    <a:pt x="10891" y="2167467"/>
                    <a:pt x="0" y="2156575"/>
                    <a:pt x="0" y="2143140"/>
                  </a:cubicBezTo>
                  <a:lnTo>
                    <a:pt x="0" y="24327"/>
                  </a:lnTo>
                  <a:cubicBezTo>
                    <a:pt x="0" y="10891"/>
                    <a:pt x="10891" y="0"/>
                    <a:pt x="24327" y="0"/>
                  </a:cubicBezTo>
                  <a:close/>
                </a:path>
              </a:pathLst>
            </a:custGeom>
            <a:solidFill>
              <a:srgbClr val="FBFBFB">
                <a:alpha val="89804"/>
              </a:srgbClr>
            </a:solidFill>
          </p:spPr>
        </p:sp>
        <p:sp>
          <p:nvSpPr>
            <p:cNvPr name="TextBox 5" id="5"/>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601846" y="419788"/>
            <a:ext cx="7163655" cy="1217823"/>
            <a:chOff x="0" y="0"/>
            <a:chExt cx="1886724" cy="320744"/>
          </a:xfrm>
        </p:grpSpPr>
        <p:sp>
          <p:nvSpPr>
            <p:cNvPr name="Freeform 7" id="7"/>
            <p:cNvSpPr/>
            <p:nvPr/>
          </p:nvSpPr>
          <p:spPr>
            <a:xfrm flipH="false" flipV="false" rot="0">
              <a:off x="0" y="0"/>
              <a:ext cx="1886724" cy="320744"/>
            </a:xfrm>
            <a:custGeom>
              <a:avLst/>
              <a:gdLst/>
              <a:ahLst/>
              <a:cxnLst/>
              <a:rect r="r" b="b" t="t" l="l"/>
              <a:pathLst>
                <a:path h="320744" w="1886724">
                  <a:moveTo>
                    <a:pt x="55117" y="0"/>
                  </a:moveTo>
                  <a:lnTo>
                    <a:pt x="1831607" y="0"/>
                  </a:lnTo>
                  <a:cubicBezTo>
                    <a:pt x="1862047" y="0"/>
                    <a:pt x="1886724" y="24677"/>
                    <a:pt x="1886724" y="55117"/>
                  </a:cubicBezTo>
                  <a:lnTo>
                    <a:pt x="1886724" y="265627"/>
                  </a:lnTo>
                  <a:cubicBezTo>
                    <a:pt x="1886724" y="280245"/>
                    <a:pt x="1880917" y="294264"/>
                    <a:pt x="1870581" y="304600"/>
                  </a:cubicBezTo>
                  <a:cubicBezTo>
                    <a:pt x="1860244" y="314937"/>
                    <a:pt x="1846225" y="320744"/>
                    <a:pt x="1831607" y="320744"/>
                  </a:cubicBezTo>
                  <a:lnTo>
                    <a:pt x="55117" y="320744"/>
                  </a:lnTo>
                  <a:cubicBezTo>
                    <a:pt x="40499" y="320744"/>
                    <a:pt x="26480" y="314937"/>
                    <a:pt x="16143" y="304600"/>
                  </a:cubicBezTo>
                  <a:cubicBezTo>
                    <a:pt x="5807" y="294264"/>
                    <a:pt x="0" y="280245"/>
                    <a:pt x="0" y="265627"/>
                  </a:cubicBezTo>
                  <a:lnTo>
                    <a:pt x="0" y="55117"/>
                  </a:lnTo>
                  <a:cubicBezTo>
                    <a:pt x="0" y="40499"/>
                    <a:pt x="5807" y="26480"/>
                    <a:pt x="16143" y="16143"/>
                  </a:cubicBezTo>
                  <a:cubicBezTo>
                    <a:pt x="26480" y="5807"/>
                    <a:pt x="40499" y="0"/>
                    <a:pt x="55117" y="0"/>
                  </a:cubicBezTo>
                  <a:close/>
                </a:path>
              </a:pathLst>
            </a:custGeom>
            <a:solidFill>
              <a:srgbClr val="0D0F68"/>
            </a:solidFill>
          </p:spPr>
        </p:sp>
        <p:sp>
          <p:nvSpPr>
            <p:cNvPr name="TextBox 8" id="8"/>
            <p:cNvSpPr txBox="true"/>
            <p:nvPr/>
          </p:nvSpPr>
          <p:spPr>
            <a:xfrm>
              <a:off x="0" y="-38100"/>
              <a:ext cx="1886724" cy="358844"/>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2446545" y="600075"/>
            <a:ext cx="5474256" cy="771497"/>
          </a:xfrm>
          <a:prstGeom prst="rect">
            <a:avLst/>
          </a:prstGeom>
        </p:spPr>
        <p:txBody>
          <a:bodyPr anchor="t" rtlCol="false" tIns="0" lIns="0" bIns="0" rIns="0">
            <a:spAutoFit/>
          </a:bodyPr>
          <a:lstStyle/>
          <a:p>
            <a:pPr algn="ctr">
              <a:lnSpc>
                <a:spcPts val="6299"/>
              </a:lnSpc>
            </a:pPr>
            <a:r>
              <a:rPr lang="en-US" sz="4500">
                <a:solidFill>
                  <a:srgbClr val="FFFFFF"/>
                </a:solidFill>
                <a:latin typeface="Yeseva One"/>
                <a:ea typeface="Yeseva One"/>
                <a:cs typeface="Yeseva One"/>
                <a:sym typeface="Yeseva One"/>
              </a:rPr>
              <a:t>05. Kết luận</a:t>
            </a:r>
          </a:p>
        </p:txBody>
      </p:sp>
      <p:sp>
        <p:nvSpPr>
          <p:cNvPr name="TextBox 10" id="10"/>
          <p:cNvSpPr txBox="true"/>
          <p:nvPr/>
        </p:nvSpPr>
        <p:spPr>
          <a:xfrm rot="0">
            <a:off x="1837147" y="2556586"/>
            <a:ext cx="15700994" cy="5033392"/>
          </a:xfrm>
          <a:prstGeom prst="rect">
            <a:avLst/>
          </a:prstGeom>
        </p:spPr>
        <p:txBody>
          <a:bodyPr anchor="t" rtlCol="false" tIns="0" lIns="0" bIns="0" rIns="0">
            <a:spAutoFit/>
          </a:bodyPr>
          <a:lstStyle/>
          <a:p>
            <a:pPr algn="l">
              <a:lnSpc>
                <a:spcPts val="4480"/>
              </a:lnSpc>
            </a:pPr>
            <a:r>
              <a:rPr lang="en-US" sz="3200">
                <a:solidFill>
                  <a:srgbClr val="000000"/>
                </a:solidFill>
                <a:latin typeface="Noto Serif Bold"/>
                <a:ea typeface="Noto Serif Bold"/>
                <a:cs typeface="Noto Serif Bold"/>
                <a:sym typeface="Noto Serif Bold"/>
              </a:rPr>
              <a:t>          mQG có khả năng tạo một loạt câu hỏi đa dạng với ngữ nghĩa chính xác và linh hoạt đối với các kiểu câu hỏi và lĩnh vực khác nhau </a:t>
            </a:r>
          </a:p>
          <a:p>
            <a:pPr algn="l">
              <a:lnSpc>
                <a:spcPts val="4480"/>
              </a:lnSpc>
            </a:pPr>
          </a:p>
          <a:p>
            <a:pPr algn="l">
              <a:lnSpc>
                <a:spcPts val="4480"/>
              </a:lnSpc>
            </a:pPr>
            <a:r>
              <a:rPr lang="en-US" sz="3200">
                <a:solidFill>
                  <a:srgbClr val="000000"/>
                </a:solidFill>
                <a:latin typeface="Noto Serif"/>
                <a:ea typeface="Noto Serif"/>
                <a:cs typeface="Noto Serif"/>
                <a:sym typeface="Noto Serif"/>
              </a:rPr>
              <a:t>Hạn chế:</a:t>
            </a:r>
          </a:p>
          <a:p>
            <a:pPr algn="l" marL="1381761" indent="-460587" lvl="2">
              <a:lnSpc>
                <a:spcPts val="4480"/>
              </a:lnSpc>
              <a:buFont typeface="Arial"/>
              <a:buChar char="⚬"/>
            </a:pPr>
            <a:r>
              <a:rPr lang="en-US" sz="3200">
                <a:solidFill>
                  <a:srgbClr val="000000"/>
                </a:solidFill>
                <a:latin typeface="Noto Serif"/>
                <a:ea typeface="Noto Serif"/>
                <a:cs typeface="Noto Serif"/>
                <a:sym typeface="Noto Serif"/>
              </a:rPr>
              <a:t>Chất lượng câu hỏi không chắc chắn</a:t>
            </a:r>
          </a:p>
          <a:p>
            <a:pPr algn="l" marL="1381761" indent="-460587" lvl="2">
              <a:lnSpc>
                <a:spcPts val="4480"/>
              </a:lnSpc>
              <a:buFont typeface="Arial"/>
              <a:buChar char="⚬"/>
            </a:pPr>
            <a:r>
              <a:rPr lang="en-US" sz="3200">
                <a:solidFill>
                  <a:srgbClr val="000000"/>
                </a:solidFill>
                <a:latin typeface="Noto Serif"/>
                <a:ea typeface="Noto Serif"/>
                <a:cs typeface="Noto Serif"/>
                <a:sym typeface="Noto Serif"/>
              </a:rPr>
              <a:t>Giới hạn số lượng câu hỏi tạo ra</a:t>
            </a:r>
          </a:p>
          <a:p>
            <a:pPr algn="l" marL="1381761" indent="-460587" lvl="2">
              <a:lnSpc>
                <a:spcPts val="4480"/>
              </a:lnSpc>
              <a:buFont typeface="Arial"/>
              <a:buChar char="⚬"/>
            </a:pPr>
            <a:r>
              <a:rPr lang="en-US" sz="3200">
                <a:solidFill>
                  <a:srgbClr val="000000"/>
                </a:solidFill>
                <a:latin typeface="Noto Serif"/>
                <a:ea typeface="Noto Serif"/>
                <a:cs typeface="Noto Serif"/>
                <a:sym typeface="Noto Serif"/>
              </a:rPr>
              <a:t>Nguy cơ phân loại sai</a:t>
            </a:r>
          </a:p>
          <a:p>
            <a:pPr algn="l" marL="1381761" indent="-460587" lvl="2">
              <a:lnSpc>
                <a:spcPts val="4480"/>
              </a:lnSpc>
              <a:buFont typeface="Arial"/>
              <a:buChar char="⚬"/>
            </a:pPr>
            <a:r>
              <a:rPr lang="en-US" sz="3200">
                <a:solidFill>
                  <a:srgbClr val="000000"/>
                </a:solidFill>
                <a:latin typeface="Noto Serif"/>
                <a:ea typeface="Noto Serif"/>
                <a:cs typeface="Noto Serif"/>
                <a:sym typeface="Noto Serif"/>
              </a:rPr>
              <a:t>Điểm tin cậy thấp</a:t>
            </a:r>
          </a:p>
          <a:p>
            <a:pPr algn="l">
              <a:lnSpc>
                <a:spcPts val="4480"/>
              </a:lnSpc>
            </a:pPr>
            <a:r>
              <a:rPr lang="en-US" sz="3200">
                <a:solidFill>
                  <a:srgbClr val="000000"/>
                </a:solidFill>
                <a:latin typeface="Noto Serif"/>
                <a:ea typeface="Noto Serif"/>
                <a:cs typeface="Noto Serif"/>
                <a:sym typeface="Noto Serif"/>
              </a:rPr>
              <a:t>Điều này có thể dẫn đến sự không chắc chắn trong kết quả.</a:t>
            </a:r>
          </a:p>
        </p:txBody>
      </p:sp>
      <p:sp>
        <p:nvSpPr>
          <p:cNvPr name="TextBox 11" id="11"/>
          <p:cNvSpPr txBox="true"/>
          <p:nvPr/>
        </p:nvSpPr>
        <p:spPr>
          <a:xfrm rot="0">
            <a:off x="10198499" y="9598025"/>
            <a:ext cx="14679282" cy="688975"/>
          </a:xfrm>
          <a:prstGeom prst="rect">
            <a:avLst/>
          </a:prstGeom>
        </p:spPr>
        <p:txBody>
          <a:bodyPr anchor="t" rtlCol="false" tIns="0" lIns="0" bIns="0" rIns="0">
            <a:spAutoFit/>
          </a:bodyPr>
          <a:lstStyle/>
          <a:p>
            <a:pPr algn="ctr">
              <a:lnSpc>
                <a:spcPts val="5599"/>
              </a:lnSpc>
            </a:pPr>
            <a:r>
              <a:rPr lang="en-US" sz="3999">
                <a:solidFill>
                  <a:srgbClr val="0D0F68"/>
                </a:solidFill>
                <a:latin typeface="Yeseva One"/>
                <a:ea typeface="Yeseva One"/>
                <a:cs typeface="Yeseva One"/>
                <a:sym typeface="Yeseva One"/>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DAGEDyFdSXo</dc:identifier>
  <dcterms:modified xsi:type="dcterms:W3CDTF">2011-08-01T06:04:30Z</dcterms:modified>
  <cp:revision>1</cp:revision>
  <dc:title>Slide DS204</dc:title>
</cp:coreProperties>
</file>